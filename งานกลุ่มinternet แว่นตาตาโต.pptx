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HappyThursday TH" charset="1" panose="02000000000000000000"/>
      <p:regular r:id="rId21"/>
    </p:embeddedFont>
    <p:embeddedFont>
      <p:font typeface="IBM Plex Sans Thai Bold" charset="1" panose="020B0803050203000203"/>
      <p:regular r:id="rId22"/>
    </p:embeddedFont>
    <p:embeddedFont>
      <p:font typeface="IBM Plex Sans Thai" charset="1" panose="020B050305020300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16" Target="../media/image46.png" Type="http://schemas.openxmlformats.org/officeDocument/2006/relationships/image"/><Relationship Id="rId17" Target="../embeddings/oleObject1.bin" Type="http://schemas.openxmlformats.org/officeDocument/2006/relationships/oleObject"/><Relationship Id="rId18" Target="../media/image4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08131" y="1418845"/>
            <a:ext cx="16071738" cy="7449309"/>
            <a:chOff x="0" y="0"/>
            <a:chExt cx="21428984" cy="99324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60613" cy="9932412"/>
            </a:xfrm>
            <a:custGeom>
              <a:avLst/>
              <a:gdLst/>
              <a:ahLst/>
              <a:cxnLst/>
              <a:rect r="r" b="b" t="t" l="l"/>
              <a:pathLst>
                <a:path h="9932412" w="9360613">
                  <a:moveTo>
                    <a:pt x="0" y="0"/>
                  </a:moveTo>
                  <a:lnTo>
                    <a:pt x="9360613" y="0"/>
                  </a:lnTo>
                  <a:lnTo>
                    <a:pt x="9360613" y="9932412"/>
                  </a:lnTo>
                  <a:lnTo>
                    <a:pt x="0" y="993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true" rot="0">
              <a:off x="9333173" y="0"/>
              <a:ext cx="12095811" cy="9932412"/>
            </a:xfrm>
            <a:custGeom>
              <a:avLst/>
              <a:gdLst/>
              <a:ahLst/>
              <a:cxnLst/>
              <a:rect r="r" b="b" t="t" l="l"/>
              <a:pathLst>
                <a:path h="9932412" w="12095811">
                  <a:moveTo>
                    <a:pt x="0" y="9932412"/>
                  </a:moveTo>
                  <a:lnTo>
                    <a:pt x="12095811" y="9932412"/>
                  </a:lnTo>
                  <a:lnTo>
                    <a:pt x="12095811" y="0"/>
                  </a:lnTo>
                  <a:lnTo>
                    <a:pt x="0" y="0"/>
                  </a:lnTo>
                  <a:lnTo>
                    <a:pt x="0" y="9932412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128797" y="2676291"/>
            <a:ext cx="10073721" cy="184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44"/>
              </a:lnSpc>
            </a:pPr>
            <a:r>
              <a:rPr lang="en-US" sz="12974">
                <a:solidFill>
                  <a:srgbClr val="0B0708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แว่นตาตาโต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637199" y="5084329"/>
            <a:ext cx="3622101" cy="3838450"/>
          </a:xfrm>
          <a:custGeom>
            <a:avLst/>
            <a:gdLst/>
            <a:ahLst/>
            <a:cxnLst/>
            <a:rect r="r" b="b" t="t" l="l"/>
            <a:pathLst>
              <a:path h="3838450" w="3622101">
                <a:moveTo>
                  <a:pt x="0" y="0"/>
                </a:moveTo>
                <a:lnTo>
                  <a:pt x="3622101" y="0"/>
                </a:lnTo>
                <a:lnTo>
                  <a:pt x="3622101" y="3838450"/>
                </a:lnTo>
                <a:lnTo>
                  <a:pt x="0" y="3838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66933" y="4408784"/>
            <a:ext cx="4020690" cy="4849516"/>
          </a:xfrm>
          <a:custGeom>
            <a:avLst/>
            <a:gdLst/>
            <a:ahLst/>
            <a:cxnLst/>
            <a:rect r="r" b="b" t="t" l="l"/>
            <a:pathLst>
              <a:path h="4849516" w="4020690">
                <a:moveTo>
                  <a:pt x="0" y="0"/>
                </a:moveTo>
                <a:lnTo>
                  <a:pt x="4020690" y="0"/>
                </a:lnTo>
                <a:lnTo>
                  <a:pt x="4020690" y="4849516"/>
                </a:lnTo>
                <a:lnTo>
                  <a:pt x="0" y="48495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27422">
            <a:off x="16735543" y="3475293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2" y="0"/>
                </a:lnTo>
                <a:lnTo>
                  <a:pt x="888652" y="659238"/>
                </a:lnTo>
                <a:lnTo>
                  <a:pt x="0" y="659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95060" y="3680530"/>
            <a:ext cx="1428573" cy="1237273"/>
          </a:xfrm>
          <a:custGeom>
            <a:avLst/>
            <a:gdLst/>
            <a:ahLst/>
            <a:cxnLst/>
            <a:rect r="r" b="b" t="t" l="l"/>
            <a:pathLst>
              <a:path h="1237273" w="1428573">
                <a:moveTo>
                  <a:pt x="0" y="0"/>
                </a:moveTo>
                <a:lnTo>
                  <a:pt x="1428574" y="0"/>
                </a:lnTo>
                <a:lnTo>
                  <a:pt x="1428574" y="1237272"/>
                </a:lnTo>
                <a:lnTo>
                  <a:pt x="0" y="12372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07560">
            <a:off x="347012" y="2433300"/>
            <a:ext cx="1755805" cy="1520395"/>
          </a:xfrm>
          <a:custGeom>
            <a:avLst/>
            <a:gdLst/>
            <a:ahLst/>
            <a:cxnLst/>
            <a:rect r="r" b="b" t="t" l="l"/>
            <a:pathLst>
              <a:path h="1520395" w="1755805">
                <a:moveTo>
                  <a:pt x="0" y="0"/>
                </a:moveTo>
                <a:lnTo>
                  <a:pt x="1755805" y="0"/>
                </a:lnTo>
                <a:lnTo>
                  <a:pt x="1755805" y="1520394"/>
                </a:lnTo>
                <a:lnTo>
                  <a:pt x="0" y="15203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66709" t="0" r="-140682" b="-267688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402291">
            <a:off x="1536922" y="1651668"/>
            <a:ext cx="1137152" cy="1120830"/>
          </a:xfrm>
          <a:custGeom>
            <a:avLst/>
            <a:gdLst/>
            <a:ahLst/>
            <a:cxnLst/>
            <a:rect r="r" b="b" t="t" l="l"/>
            <a:pathLst>
              <a:path h="1120830" w="1137152">
                <a:moveTo>
                  <a:pt x="0" y="0"/>
                </a:moveTo>
                <a:lnTo>
                  <a:pt x="1137153" y="0"/>
                </a:lnTo>
                <a:lnTo>
                  <a:pt x="1137153" y="1120830"/>
                </a:lnTo>
                <a:lnTo>
                  <a:pt x="0" y="112083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11797" r="-374623" b="-286968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949551" y="2515281"/>
            <a:ext cx="8774277" cy="8774277"/>
          </a:xfrm>
          <a:custGeom>
            <a:avLst/>
            <a:gdLst/>
            <a:ahLst/>
            <a:cxnLst/>
            <a:rect r="r" b="b" t="t" l="l"/>
            <a:pathLst>
              <a:path h="8774277" w="8774277">
                <a:moveTo>
                  <a:pt x="0" y="0"/>
                </a:moveTo>
                <a:lnTo>
                  <a:pt x="8774276" y="0"/>
                </a:lnTo>
                <a:lnTo>
                  <a:pt x="8774276" y="8774277"/>
                </a:lnTo>
                <a:lnTo>
                  <a:pt x="0" y="877427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6473" y="1268407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331999" y="1976178"/>
            <a:ext cx="12185978" cy="699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6"/>
              </a:lnSpc>
            </a:pPr>
            <a:r>
              <a:rPr lang="en-US" sz="231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ปัญหาของบริษัทแว่นตาตาใน</a:t>
            </a:r>
          </a:p>
          <a:p>
            <a:pPr algn="ctr">
              <a:lnSpc>
                <a:spcPts val="3956"/>
              </a:lnSpc>
            </a:pPr>
            <a:r>
              <a:rPr lang="en-US" sz="231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ปัจจุบันการซื้อแว่นตาอาจต้องเดินทางมายังหน้าร้าน</a:t>
            </a:r>
            <a:r>
              <a:rPr lang="en-US" sz="231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ทำให้ลูกค้าใช้เวลาในการเลือกซื้อสินค้า และอาจไม่สามารถตรวจสอบสินค้าได้ตลอดเวลา</a:t>
            </a:r>
          </a:p>
          <a:p>
            <a:pPr algn="ctr">
              <a:lnSpc>
                <a:spcPts val="3956"/>
              </a:lnSpc>
            </a:pPr>
            <a:r>
              <a:rPr lang="en-US" sz="231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นอกจากนี้ บริษัทอาจพบปัญหาในการจัดการข้อมูล เช่น</a:t>
            </a:r>
          </a:p>
          <a:p>
            <a:pPr algn="ctr">
              <a:lnSpc>
                <a:spcPts val="3956"/>
              </a:lnSpc>
            </a:pPr>
          </a:p>
          <a:p>
            <a:pPr algn="ctr">
              <a:lnSpc>
                <a:spcPts val="3956"/>
              </a:lnSpc>
            </a:pPr>
          </a:p>
          <a:p>
            <a:pPr algn="ctr">
              <a:lnSpc>
                <a:spcPts val="3956"/>
              </a:lnSpc>
            </a:pPr>
          </a:p>
          <a:p>
            <a:pPr algn="ctr">
              <a:lnSpc>
                <a:spcPts val="3956"/>
              </a:lnSpc>
            </a:pPr>
          </a:p>
          <a:p>
            <a:pPr algn="ctr">
              <a:lnSpc>
                <a:spcPts val="3956"/>
              </a:lnSpc>
            </a:pPr>
          </a:p>
          <a:p>
            <a:pPr algn="ctr">
              <a:lnSpc>
                <a:spcPts val="3956"/>
              </a:lnSpc>
            </a:pPr>
          </a:p>
          <a:p>
            <a:pPr algn="ctr">
              <a:lnSpc>
                <a:spcPts val="3956"/>
              </a:lnSpc>
            </a:pPr>
          </a:p>
          <a:p>
            <a:pPr algn="ctr">
              <a:lnSpc>
                <a:spcPts val="3956"/>
              </a:lnSpc>
            </a:pPr>
            <a:r>
              <a:rPr lang="en-US" sz="231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บริษัทแว่นตาตาโตถึงต้องการระบบออนไลน์ที่ช่วยให้ลูกค้าสามารถเลือกซื้อแว่นตาได้สะดวก และช่วยให้บริษัทสามารถจัดการสินค้า Stock และคำสั่งซื้อได้อย่างเป็นระบบ</a:t>
            </a:r>
          </a:p>
          <a:p>
            <a:pPr algn="ctr">
              <a:lnSpc>
                <a:spcPts val="3956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332683" y="7338816"/>
            <a:ext cx="3441726" cy="3260254"/>
          </a:xfrm>
          <a:custGeom>
            <a:avLst/>
            <a:gdLst/>
            <a:ahLst/>
            <a:cxnLst/>
            <a:rect r="r" b="b" t="t" l="l"/>
            <a:pathLst>
              <a:path h="3260254" w="3441726">
                <a:moveTo>
                  <a:pt x="0" y="0"/>
                </a:moveTo>
                <a:lnTo>
                  <a:pt x="3441726" y="0"/>
                </a:lnTo>
                <a:lnTo>
                  <a:pt x="3441726" y="3260254"/>
                </a:lnTo>
                <a:lnTo>
                  <a:pt x="0" y="3260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694389" y="224749"/>
            <a:ext cx="6382720" cy="149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Problem &amp; Background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07560">
            <a:off x="192367" y="1590761"/>
            <a:ext cx="1755805" cy="1520395"/>
          </a:xfrm>
          <a:custGeom>
            <a:avLst/>
            <a:gdLst/>
            <a:ahLst/>
            <a:cxnLst/>
            <a:rect r="r" b="b" t="t" l="l"/>
            <a:pathLst>
              <a:path h="1520395" w="1755805">
                <a:moveTo>
                  <a:pt x="0" y="0"/>
                </a:moveTo>
                <a:lnTo>
                  <a:pt x="1755805" y="0"/>
                </a:lnTo>
                <a:lnTo>
                  <a:pt x="1755805" y="1520395"/>
                </a:lnTo>
                <a:lnTo>
                  <a:pt x="0" y="15203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6709" t="0" r="-140682" b="-267688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402291">
            <a:off x="1382276" y="809130"/>
            <a:ext cx="1137152" cy="1120830"/>
          </a:xfrm>
          <a:custGeom>
            <a:avLst/>
            <a:gdLst/>
            <a:ahLst/>
            <a:cxnLst/>
            <a:rect r="r" b="b" t="t" l="l"/>
            <a:pathLst>
              <a:path h="1120830" w="1137152">
                <a:moveTo>
                  <a:pt x="0" y="0"/>
                </a:moveTo>
                <a:lnTo>
                  <a:pt x="1137153" y="0"/>
                </a:lnTo>
                <a:lnTo>
                  <a:pt x="1137153" y="1120829"/>
                </a:lnTo>
                <a:lnTo>
                  <a:pt x="0" y="11208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1797" r="-374623" b="-28696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988643">
            <a:off x="16335867" y="1282466"/>
            <a:ext cx="1517688" cy="1495903"/>
          </a:xfrm>
          <a:custGeom>
            <a:avLst/>
            <a:gdLst/>
            <a:ahLst/>
            <a:cxnLst/>
            <a:rect r="r" b="b" t="t" l="l"/>
            <a:pathLst>
              <a:path h="1495903" w="1517688">
                <a:moveTo>
                  <a:pt x="0" y="0"/>
                </a:moveTo>
                <a:lnTo>
                  <a:pt x="1517688" y="0"/>
                </a:lnTo>
                <a:lnTo>
                  <a:pt x="1517688" y="1495903"/>
                </a:lnTo>
                <a:lnTo>
                  <a:pt x="0" y="14959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1797" r="-374623" b="-28696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615185" y="4029880"/>
            <a:ext cx="11007084" cy="355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160" indent="-225580" lvl="1">
              <a:lnSpc>
                <a:spcPts val="3573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ลู</a:t>
            </a: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กค้าต้องเดินทางมาที่ร้านเพื่อดูสินค</a:t>
            </a: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้า</a:t>
            </a:r>
          </a:p>
          <a:p>
            <a:pPr algn="l" marL="451160" indent="-225580" lvl="1">
              <a:lnSpc>
                <a:spcPts val="3573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ลูกค้าใช้เวลาในการค้นหาแว่นที่ตรงกับความต้องการ</a:t>
            </a:r>
          </a:p>
          <a:p>
            <a:pPr algn="l" marL="451160" indent="-225580" lvl="1">
              <a:lnSpc>
                <a:spcPts val="3573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สินค้ามีหลายประเภท สี และรูปแบบ</a:t>
            </a:r>
          </a:p>
          <a:p>
            <a:pPr algn="l" marL="451160" indent="-225580" lvl="1">
              <a:lnSpc>
                <a:spcPts val="3573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การตรวจสอบ Stock ของสินค้าอาจทำได้ยาก</a:t>
            </a:r>
          </a:p>
          <a:p>
            <a:pPr algn="l" marL="451160" indent="-225580" lvl="1">
              <a:lnSpc>
                <a:spcPts val="3573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การจัดการคำสั่งซื้อจำนวนมากอาจเกิดความผิดพลาด</a:t>
            </a:r>
          </a:p>
          <a:p>
            <a:pPr algn="l" marL="451160" indent="-225580" lvl="1">
              <a:lnSpc>
                <a:spcPts val="3573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ลูกค้าไม่สามารถตรวจสอบสถานะคำสั่งซื้อได้สะดวก</a:t>
            </a:r>
          </a:p>
          <a:p>
            <a:pPr algn="l" marL="451160" indent="-225580" lvl="1">
              <a:lnSpc>
                <a:spcPts val="3573"/>
              </a:lnSpc>
              <a:buFont typeface="Arial"/>
              <a:buChar char="•"/>
            </a:pPr>
            <a:r>
              <a:rPr lang="en-US" sz="208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Problem Statement</a:t>
            </a:r>
          </a:p>
          <a:p>
            <a:pPr algn="l">
              <a:lnSpc>
                <a:spcPts val="3573"/>
              </a:lnSpc>
            </a:pPr>
          </a:p>
        </p:txBody>
      </p:sp>
    </p:spTree>
  </p:cSld>
  <p:clrMapOvr>
    <a:masterClrMapping/>
  </p:clrMapOvr>
  <p:transition spd="fast">
    <p:cover dir="r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6473" y="1268407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true" flipV="false" rot="0">
            <a:off x="-835277" y="6701724"/>
            <a:ext cx="3727953" cy="5113153"/>
          </a:xfrm>
          <a:custGeom>
            <a:avLst/>
            <a:gdLst/>
            <a:ahLst/>
            <a:cxnLst/>
            <a:rect r="r" b="b" t="t" l="l"/>
            <a:pathLst>
              <a:path h="5113153" w="3727953">
                <a:moveTo>
                  <a:pt x="3727954" y="0"/>
                </a:moveTo>
                <a:lnTo>
                  <a:pt x="0" y="0"/>
                </a:lnTo>
                <a:lnTo>
                  <a:pt x="0" y="5113152"/>
                </a:lnTo>
                <a:lnTo>
                  <a:pt x="3727954" y="5113152"/>
                </a:lnTo>
                <a:lnTo>
                  <a:pt x="37279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891364">
            <a:off x="70389" y="6149248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2" y="0"/>
                </a:lnTo>
                <a:lnTo>
                  <a:pt x="888652" y="659239"/>
                </a:lnTo>
                <a:lnTo>
                  <a:pt x="0" y="659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3581" y="5143500"/>
            <a:ext cx="1541835" cy="1335368"/>
          </a:xfrm>
          <a:custGeom>
            <a:avLst/>
            <a:gdLst/>
            <a:ahLst/>
            <a:cxnLst/>
            <a:rect r="r" b="b" t="t" l="l"/>
            <a:pathLst>
              <a:path h="1335368" w="1541835">
                <a:moveTo>
                  <a:pt x="0" y="0"/>
                </a:moveTo>
                <a:lnTo>
                  <a:pt x="1541835" y="0"/>
                </a:lnTo>
                <a:lnTo>
                  <a:pt x="1541835" y="1335368"/>
                </a:lnTo>
                <a:lnTo>
                  <a:pt x="0" y="13353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5851761" y="815388"/>
            <a:ext cx="2049565" cy="2236628"/>
          </a:xfrm>
          <a:custGeom>
            <a:avLst/>
            <a:gdLst/>
            <a:ahLst/>
            <a:cxnLst/>
            <a:rect r="r" b="b" t="t" l="l"/>
            <a:pathLst>
              <a:path h="2236628" w="2049565">
                <a:moveTo>
                  <a:pt x="2049565" y="0"/>
                </a:moveTo>
                <a:lnTo>
                  <a:pt x="0" y="0"/>
                </a:lnTo>
                <a:lnTo>
                  <a:pt x="0" y="2236628"/>
                </a:lnTo>
                <a:lnTo>
                  <a:pt x="2049565" y="2236628"/>
                </a:lnTo>
                <a:lnTo>
                  <a:pt x="204956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87752" y="2274847"/>
            <a:ext cx="4729777" cy="615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👤 Customer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ลูกค้าที่ต้องการซื้อแว่นตาจากบริษัทแว่นตาตาโต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ความต้องการ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ค้นหาแว่นตา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ดูรายละเอียดสินค้า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ดูราคา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เลือกประเภทแว่น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เพิ่มสินค้าในตะกร้า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สั่งซื้อสินค้า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ตรวจสอบสถานะ Order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8629" y="2274847"/>
            <a:ext cx="7133706" cy="503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👨‍💼 Admin / Staff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พนักงานของบริษัทแว่นตาตาโต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ความต้องการ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เพิ่มสินค้า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แก้ไขสินค้า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ลบสินค้า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ตรวจสอบ Stock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จัดการคำสั่งซื้อ</a:t>
            </a:r>
          </a:p>
          <a:p>
            <a:pPr algn="l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อัปเดตสถานะการจัดส่ง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52640" y="1154107"/>
            <a:ext cx="6382720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Target Users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6473" y="1268407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891364">
            <a:off x="287889" y="7754136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2" y="0"/>
                </a:lnTo>
                <a:lnTo>
                  <a:pt x="888652" y="659238"/>
                </a:lnTo>
                <a:lnTo>
                  <a:pt x="0" y="659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6200" y="8233017"/>
            <a:ext cx="1541835" cy="1335368"/>
          </a:xfrm>
          <a:custGeom>
            <a:avLst/>
            <a:gdLst/>
            <a:ahLst/>
            <a:cxnLst/>
            <a:rect r="r" b="b" t="t" l="l"/>
            <a:pathLst>
              <a:path h="1335368" w="1541835">
                <a:moveTo>
                  <a:pt x="0" y="0"/>
                </a:moveTo>
                <a:lnTo>
                  <a:pt x="1541835" y="0"/>
                </a:lnTo>
                <a:lnTo>
                  <a:pt x="1541835" y="1335368"/>
                </a:lnTo>
                <a:lnTo>
                  <a:pt x="0" y="1335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91448" y="2166984"/>
            <a:ext cx="5674557" cy="662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💡 Big Eye Glasses Application</a:t>
            </a:r>
          </a:p>
          <a:p>
            <a:pPr algn="just">
              <a:lnSpc>
                <a:spcPts val="3750"/>
              </a:lnSpc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ระบบจะแบ่งเป็น 2 ส่วนหลัก</a:t>
            </a:r>
          </a:p>
          <a:p>
            <a:pPr algn="just">
              <a:lnSpc>
                <a:spcPts val="3750"/>
              </a:lnSpc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Customer</a:t>
            </a:r>
          </a:p>
          <a:p>
            <a:pPr algn="just">
              <a:lnSpc>
                <a:spcPts val="3750"/>
              </a:lnSpc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Home → Search → Product →</a:t>
            </a:r>
          </a:p>
          <a:p>
            <a:pPr algn="just">
              <a:lnSpc>
                <a:spcPts val="3750"/>
              </a:lnSpc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Cart → Checkout → Order</a:t>
            </a:r>
          </a:p>
          <a:p>
            <a:pPr algn="just">
              <a:lnSpc>
                <a:spcPts val="3750"/>
              </a:lnSpc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ฟังก์ชัน:</a:t>
            </a:r>
          </a:p>
          <a:p>
            <a:pPr algn="just" marL="473562" indent="-236781" lvl="1">
              <a:lnSpc>
                <a:spcPts val="3750"/>
              </a:lnSpc>
              <a:buFont typeface="Arial"/>
              <a:buChar char="•"/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🔍 Search</a:t>
            </a:r>
          </a:p>
          <a:p>
            <a:pPr algn="just" marL="473562" indent="-236781" lvl="1">
              <a:lnSpc>
                <a:spcPts val="3750"/>
              </a:lnSpc>
              <a:buFont typeface="Arial"/>
              <a:buChar char="•"/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🏷️ Filter</a:t>
            </a:r>
          </a:p>
          <a:p>
            <a:pPr algn="just" marL="473562" indent="-236781" lvl="1">
              <a:lnSpc>
                <a:spcPts val="3750"/>
              </a:lnSpc>
              <a:buFont typeface="Arial"/>
              <a:buChar char="•"/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👓 Product Detail</a:t>
            </a:r>
          </a:p>
          <a:p>
            <a:pPr algn="just" marL="473562" indent="-236781" lvl="1">
              <a:lnSpc>
                <a:spcPts val="3750"/>
              </a:lnSpc>
              <a:buFont typeface="Arial"/>
              <a:buChar char="•"/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🛒 Shopping Cart</a:t>
            </a:r>
          </a:p>
          <a:p>
            <a:pPr algn="just" marL="473562" indent="-236781" lvl="1">
              <a:lnSpc>
                <a:spcPts val="3750"/>
              </a:lnSpc>
              <a:buFont typeface="Arial"/>
              <a:buChar char="•"/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📦 Order</a:t>
            </a:r>
          </a:p>
          <a:p>
            <a:pPr algn="just" marL="473562" indent="-236781" lvl="1">
              <a:lnSpc>
                <a:spcPts val="3750"/>
              </a:lnSpc>
              <a:buFont typeface="Arial"/>
              <a:buChar char="•"/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💳 Payment</a:t>
            </a:r>
          </a:p>
          <a:p>
            <a:pPr algn="just" marL="473562" indent="-236781" lvl="1">
              <a:lnSpc>
                <a:spcPts val="3750"/>
              </a:lnSpc>
              <a:buFont typeface="Arial"/>
              <a:buChar char="•"/>
            </a:pPr>
            <a:r>
              <a:rPr lang="en-US" sz="21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📋 Order History</a:t>
            </a:r>
          </a:p>
          <a:p>
            <a:pPr algn="just">
              <a:lnSpc>
                <a:spcPts val="3750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10399" y="492685"/>
            <a:ext cx="2377636" cy="2717298"/>
          </a:xfrm>
          <a:custGeom>
            <a:avLst/>
            <a:gdLst/>
            <a:ahLst/>
            <a:cxnLst/>
            <a:rect r="r" b="b" t="t" l="l"/>
            <a:pathLst>
              <a:path h="2717298" w="2377636">
                <a:moveTo>
                  <a:pt x="0" y="0"/>
                </a:moveTo>
                <a:lnTo>
                  <a:pt x="2377636" y="0"/>
                </a:lnTo>
                <a:lnTo>
                  <a:pt x="2377636" y="2717298"/>
                </a:lnTo>
                <a:lnTo>
                  <a:pt x="0" y="27172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843031" y="6930695"/>
            <a:ext cx="3058295" cy="2818728"/>
          </a:xfrm>
          <a:custGeom>
            <a:avLst/>
            <a:gdLst/>
            <a:ahLst/>
            <a:cxnLst/>
            <a:rect r="r" b="b" t="t" l="l"/>
            <a:pathLst>
              <a:path h="2818728" w="3058295">
                <a:moveTo>
                  <a:pt x="0" y="0"/>
                </a:moveTo>
                <a:lnTo>
                  <a:pt x="3058295" y="0"/>
                </a:lnTo>
                <a:lnTo>
                  <a:pt x="3058295" y="2818728"/>
                </a:lnTo>
                <a:lnTo>
                  <a:pt x="0" y="2818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952640" y="1154107"/>
            <a:ext cx="6382720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Proposed Solution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891364">
            <a:off x="15666484" y="1108802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1" y="0"/>
                </a:lnTo>
                <a:lnTo>
                  <a:pt x="888651" y="659238"/>
                </a:lnTo>
                <a:lnTo>
                  <a:pt x="0" y="659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110809" y="1980967"/>
            <a:ext cx="1541835" cy="1335368"/>
          </a:xfrm>
          <a:custGeom>
            <a:avLst/>
            <a:gdLst/>
            <a:ahLst/>
            <a:cxnLst/>
            <a:rect r="r" b="b" t="t" l="l"/>
            <a:pathLst>
              <a:path h="1335368" w="1541835">
                <a:moveTo>
                  <a:pt x="0" y="0"/>
                </a:moveTo>
                <a:lnTo>
                  <a:pt x="1541835" y="0"/>
                </a:lnTo>
                <a:lnTo>
                  <a:pt x="1541835" y="1335368"/>
                </a:lnTo>
                <a:lnTo>
                  <a:pt x="0" y="1335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690033">
            <a:off x="17031392" y="861742"/>
            <a:ext cx="796854" cy="813329"/>
          </a:xfrm>
          <a:custGeom>
            <a:avLst/>
            <a:gdLst/>
            <a:ahLst/>
            <a:cxnLst/>
            <a:rect r="r" b="b" t="t" l="l"/>
            <a:pathLst>
              <a:path h="813329" w="796854">
                <a:moveTo>
                  <a:pt x="0" y="0"/>
                </a:moveTo>
                <a:lnTo>
                  <a:pt x="796853" y="0"/>
                </a:lnTo>
                <a:lnTo>
                  <a:pt x="796853" y="813329"/>
                </a:lnTo>
                <a:lnTo>
                  <a:pt x="0" y="8133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287910" r="-565582" b="-398613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251471" y="2166984"/>
            <a:ext cx="5278254" cy="645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1"/>
              </a:lnSpc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Admin</a:t>
            </a:r>
          </a:p>
          <a:p>
            <a:pPr algn="just">
              <a:lnSpc>
                <a:spcPts val="3401"/>
              </a:lnSpc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Da</a:t>
            </a: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shboard → Product → Stock → Order</a:t>
            </a:r>
          </a:p>
          <a:p>
            <a:pPr algn="just">
              <a:lnSpc>
                <a:spcPts val="3401"/>
              </a:lnSpc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ฟังก์ชัน:</a:t>
            </a:r>
          </a:p>
          <a:p>
            <a:pPr algn="just" marL="429415" indent="-214707" lvl="1">
              <a:lnSpc>
                <a:spcPts val="3401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เพิ่มสินค้า</a:t>
            </a:r>
          </a:p>
          <a:p>
            <a:pPr algn="just" marL="429415" indent="-214707" lvl="1">
              <a:lnSpc>
                <a:spcPts val="3401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แก้ไขสินค้า</a:t>
            </a:r>
          </a:p>
          <a:p>
            <a:pPr algn="just" marL="429415" indent="-214707" lvl="1">
              <a:lnSpc>
                <a:spcPts val="3401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ลบสินค้า</a:t>
            </a:r>
          </a:p>
          <a:p>
            <a:pPr algn="just" marL="429415" indent="-214707" lvl="1">
              <a:lnSpc>
                <a:spcPts val="3401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จัดการ</a:t>
            </a: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Stock</a:t>
            </a:r>
          </a:p>
          <a:p>
            <a:pPr algn="just" marL="429415" indent="-214707" lvl="1">
              <a:lnSpc>
                <a:spcPts val="3401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ตรวจสอบ</a:t>
            </a: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Order</a:t>
            </a:r>
          </a:p>
          <a:p>
            <a:pPr algn="just" marL="429415" indent="-214707" lvl="1">
              <a:lnSpc>
                <a:spcPts val="3401"/>
              </a:lnSpc>
              <a:buFont typeface="Arial"/>
              <a:buChar char="•"/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เปลี่ยนสถานะ</a:t>
            </a: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Order</a:t>
            </a:r>
          </a:p>
          <a:p>
            <a:pPr algn="just">
              <a:lnSpc>
                <a:spcPts val="3401"/>
              </a:lnSpc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V</a:t>
            </a: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alue Proposition</a:t>
            </a:r>
          </a:p>
          <a:p>
            <a:pPr algn="just">
              <a:lnSpc>
                <a:spcPts val="3401"/>
              </a:lnSpc>
            </a:pPr>
            <a:r>
              <a:rPr lang="en-US" sz="1988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“ช่วยให้ลูกค้าของแว่นตาตาโตสามารถเลือกซื้อสินค้าได้สะดวก และช่วยให้บริษัทจัดการสินค้าและคำสั่งซื้อได้อย่างมีประสิทธิภาพ”</a:t>
            </a:r>
          </a:p>
          <a:p>
            <a:pPr algn="just">
              <a:lnSpc>
                <a:spcPts val="340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27735" y="1438421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891364">
            <a:off x="2300814" y="1131603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2" y="0"/>
                </a:lnTo>
                <a:lnTo>
                  <a:pt x="888652" y="659239"/>
                </a:lnTo>
                <a:lnTo>
                  <a:pt x="0" y="6592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57783" y="2423907"/>
            <a:ext cx="1541835" cy="1335368"/>
          </a:xfrm>
          <a:custGeom>
            <a:avLst/>
            <a:gdLst/>
            <a:ahLst/>
            <a:cxnLst/>
            <a:rect r="r" b="b" t="t" l="l"/>
            <a:pathLst>
              <a:path h="1335368" w="1541835">
                <a:moveTo>
                  <a:pt x="0" y="0"/>
                </a:moveTo>
                <a:lnTo>
                  <a:pt x="1541834" y="0"/>
                </a:lnTo>
                <a:lnTo>
                  <a:pt x="1541834" y="1335367"/>
                </a:lnTo>
                <a:lnTo>
                  <a:pt x="0" y="13353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08049" y="3868412"/>
            <a:ext cx="14271902" cy="127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</a:pPr>
          </a:p>
          <a:p>
            <a:pPr algn="ctr">
              <a:lnSpc>
                <a:spcPts val="3396"/>
              </a:lnSpc>
            </a:pPr>
            <a:r>
              <a:rPr lang="en-US" sz="198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เปิดแอป → Login / Register → หน้า Home → ค้นหาแว่นตา → เลือกสินค้า → ดูรายละเอียด → Add to Cart → Checkout → ชำระเงิน → สร้าง Order → ตรวจสอบสถานะ → ได้รับสินค้า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891364">
            <a:off x="15666484" y="1108802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1" y="0"/>
                </a:lnTo>
                <a:lnTo>
                  <a:pt x="888651" y="659238"/>
                </a:lnTo>
                <a:lnTo>
                  <a:pt x="0" y="659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110809" y="1980967"/>
            <a:ext cx="1541835" cy="1335368"/>
          </a:xfrm>
          <a:custGeom>
            <a:avLst/>
            <a:gdLst/>
            <a:ahLst/>
            <a:cxnLst/>
            <a:rect r="r" b="b" t="t" l="l"/>
            <a:pathLst>
              <a:path h="1335368" w="1541835">
                <a:moveTo>
                  <a:pt x="0" y="0"/>
                </a:moveTo>
                <a:lnTo>
                  <a:pt x="1541835" y="0"/>
                </a:lnTo>
                <a:lnTo>
                  <a:pt x="1541835" y="1335368"/>
                </a:lnTo>
                <a:lnTo>
                  <a:pt x="0" y="1335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44592" y="7477738"/>
            <a:ext cx="3360406" cy="3561123"/>
          </a:xfrm>
          <a:custGeom>
            <a:avLst/>
            <a:gdLst/>
            <a:ahLst/>
            <a:cxnLst/>
            <a:rect r="r" b="b" t="t" l="l"/>
            <a:pathLst>
              <a:path h="3561123" w="3360406">
                <a:moveTo>
                  <a:pt x="0" y="0"/>
                </a:moveTo>
                <a:lnTo>
                  <a:pt x="3360405" y="0"/>
                </a:lnTo>
                <a:lnTo>
                  <a:pt x="3360405" y="3561124"/>
                </a:lnTo>
                <a:lnTo>
                  <a:pt x="0" y="3561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32683" y="7707089"/>
            <a:ext cx="1891320" cy="2610217"/>
          </a:xfrm>
          <a:custGeom>
            <a:avLst/>
            <a:gdLst/>
            <a:ahLst/>
            <a:cxnLst/>
            <a:rect r="r" b="b" t="t" l="l"/>
            <a:pathLst>
              <a:path h="2610217" w="1891320">
                <a:moveTo>
                  <a:pt x="0" y="0"/>
                </a:moveTo>
                <a:lnTo>
                  <a:pt x="1891320" y="0"/>
                </a:lnTo>
                <a:lnTo>
                  <a:pt x="1891320" y="2610217"/>
                </a:lnTo>
                <a:lnTo>
                  <a:pt x="0" y="26102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952640" y="1154107"/>
            <a:ext cx="6382720" cy="149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System &amp; Business Process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690033">
            <a:off x="520886" y="701982"/>
            <a:ext cx="796854" cy="813329"/>
          </a:xfrm>
          <a:custGeom>
            <a:avLst/>
            <a:gdLst/>
            <a:ahLst/>
            <a:cxnLst/>
            <a:rect r="r" b="b" t="t" l="l"/>
            <a:pathLst>
              <a:path h="813329" w="796854">
                <a:moveTo>
                  <a:pt x="0" y="0"/>
                </a:moveTo>
                <a:lnTo>
                  <a:pt x="796854" y="0"/>
                </a:lnTo>
                <a:lnTo>
                  <a:pt x="796854" y="813328"/>
                </a:lnTo>
                <a:lnTo>
                  <a:pt x="0" y="8133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287910" r="-565582" b="-398613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67825" y="6601344"/>
            <a:ext cx="15413902" cy="1096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5"/>
              </a:lnSpc>
            </a:pPr>
          </a:p>
          <a:p>
            <a:pPr algn="ctr">
              <a:lnSpc>
                <a:spcPts val="2975"/>
              </a:lnSpc>
            </a:pPr>
            <a:r>
              <a:rPr lang="en-US" sz="173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Customer → สร้าง Order → ระบบตรวจสอบ Stock → บริษัทแว่นตาตาโตได้รับ Order → พนักงานตรวจสอบ Order → เตรียมสินค้า → จัดส่ง → Update Status → Customer ได้รับสินค้า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37169" y="6018402"/>
            <a:ext cx="3840855" cy="45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sz="2525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Company Process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37169" y="3523595"/>
            <a:ext cx="3840855" cy="45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sz="2525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Customer Process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6473" y="1360359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883249" y="7230500"/>
            <a:ext cx="3351225" cy="5251207"/>
          </a:xfrm>
          <a:custGeom>
            <a:avLst/>
            <a:gdLst/>
            <a:ahLst/>
            <a:cxnLst/>
            <a:rect r="r" b="b" t="t" l="l"/>
            <a:pathLst>
              <a:path h="5251207" w="3351225">
                <a:moveTo>
                  <a:pt x="0" y="0"/>
                </a:moveTo>
                <a:lnTo>
                  <a:pt x="3351225" y="0"/>
                </a:lnTo>
                <a:lnTo>
                  <a:pt x="3351225" y="5251208"/>
                </a:lnTo>
                <a:lnTo>
                  <a:pt x="0" y="52512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52640" y="1154107"/>
            <a:ext cx="6382720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Data Design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301416" y="293372"/>
            <a:ext cx="1220458" cy="1066988"/>
          </a:xfrm>
          <a:custGeom>
            <a:avLst/>
            <a:gdLst/>
            <a:ahLst/>
            <a:cxnLst/>
            <a:rect r="r" b="b" t="t" l="l"/>
            <a:pathLst>
              <a:path h="1066988" w="1220458">
                <a:moveTo>
                  <a:pt x="0" y="0"/>
                </a:moveTo>
                <a:lnTo>
                  <a:pt x="1220458" y="0"/>
                </a:lnTo>
                <a:lnTo>
                  <a:pt x="1220458" y="1066987"/>
                </a:lnTo>
                <a:lnTo>
                  <a:pt x="0" y="10669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7374" t="0" r="0" b="-36130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201957" y="6754585"/>
            <a:ext cx="1404742" cy="1228098"/>
          </a:xfrm>
          <a:custGeom>
            <a:avLst/>
            <a:gdLst/>
            <a:ahLst/>
            <a:cxnLst/>
            <a:rect r="r" b="b" t="t" l="l"/>
            <a:pathLst>
              <a:path h="1228098" w="1404742">
                <a:moveTo>
                  <a:pt x="0" y="1228098"/>
                </a:moveTo>
                <a:lnTo>
                  <a:pt x="1404742" y="1228098"/>
                </a:lnTo>
                <a:lnTo>
                  <a:pt x="1404742" y="0"/>
                </a:lnTo>
                <a:lnTo>
                  <a:pt x="0" y="0"/>
                </a:lnTo>
                <a:lnTo>
                  <a:pt x="0" y="122809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57374" t="0" r="0" b="-36130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62226" y="5629383"/>
            <a:ext cx="500111" cy="50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16157" y="4919196"/>
            <a:ext cx="13480355" cy="119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product_id (รหัสสินค้า) ➔ category_id (ประเภทสินค้า) ➔ product_name (ชื่อสินค้า) ➔ description (รายละเอียด) ➔ price (ราคา) ➔ stock (จำนวนสินค้า) ➔ image (รูปสินค้า)</a:t>
            </a:r>
          </a:p>
          <a:p>
            <a:pPr algn="ctr">
              <a:lnSpc>
                <a:spcPts val="3116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822173" y="3283623"/>
            <a:ext cx="13026139" cy="260523"/>
          </a:xfrm>
          <a:custGeom>
            <a:avLst/>
            <a:gdLst/>
            <a:ahLst/>
            <a:cxnLst/>
            <a:rect r="r" b="b" t="t" l="l"/>
            <a:pathLst>
              <a:path h="260523" w="13026139">
                <a:moveTo>
                  <a:pt x="0" y="0"/>
                </a:moveTo>
                <a:lnTo>
                  <a:pt x="13026139" y="0"/>
                </a:lnTo>
                <a:lnTo>
                  <a:pt x="13026139" y="260522"/>
                </a:lnTo>
                <a:lnTo>
                  <a:pt x="0" y="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262226" y="4279160"/>
            <a:ext cx="500111" cy="50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62226" y="6979606"/>
            <a:ext cx="500111" cy="50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5067" y="6263961"/>
            <a:ext cx="13897865" cy="119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  <a:spcBef>
                <a:spcPct val="0"/>
              </a:spcBef>
            </a:pPr>
            <a:r>
              <a:rPr lang="en-US" sz="222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order_id (รหัส Order) ➔ user_id (ลูกค้า) ➔ order_date (วันที่สั่ง) ➔ total_amount (ยอดรวม) ➔ status (สถานะ)</a:t>
            </a:r>
          </a:p>
          <a:p>
            <a:pPr algn="ctr">
              <a:lnSpc>
                <a:spcPts val="3121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94365" y="3538828"/>
            <a:ext cx="14899271" cy="112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order_detail_id (รหัสรายละเอียด) ➔ order_id (รหัส Order) ➔ product_id (รหัสสินค้า) ➔ quantity (จำนวน) ➔ price (ราคา)</a:t>
            </a:r>
          </a:p>
          <a:p>
            <a:pPr algn="ctr">
              <a:lnSpc>
                <a:spcPts val="2941"/>
              </a:lnSpc>
              <a:spcBef>
                <a:spcPct val="0"/>
              </a:spcBef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822173" y="5927238"/>
            <a:ext cx="13026139" cy="260523"/>
          </a:xfrm>
          <a:custGeom>
            <a:avLst/>
            <a:gdLst/>
            <a:ahLst/>
            <a:cxnLst/>
            <a:rect r="r" b="b" t="t" l="l"/>
            <a:pathLst>
              <a:path h="260523" w="13026139">
                <a:moveTo>
                  <a:pt x="0" y="0"/>
                </a:moveTo>
                <a:lnTo>
                  <a:pt x="13026139" y="0"/>
                </a:lnTo>
                <a:lnTo>
                  <a:pt x="13026139" y="260523"/>
                </a:lnTo>
                <a:lnTo>
                  <a:pt x="0" y="260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822173" y="4528623"/>
            <a:ext cx="13026139" cy="260523"/>
          </a:xfrm>
          <a:custGeom>
            <a:avLst/>
            <a:gdLst/>
            <a:ahLst/>
            <a:cxnLst/>
            <a:rect r="r" b="b" t="t" l="l"/>
            <a:pathLst>
              <a:path h="260523" w="13026139">
                <a:moveTo>
                  <a:pt x="0" y="0"/>
                </a:moveTo>
                <a:lnTo>
                  <a:pt x="13026139" y="0"/>
                </a:lnTo>
                <a:lnTo>
                  <a:pt x="13026139" y="260523"/>
                </a:lnTo>
                <a:lnTo>
                  <a:pt x="0" y="260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822173" y="7238373"/>
            <a:ext cx="13026139" cy="260523"/>
          </a:xfrm>
          <a:custGeom>
            <a:avLst/>
            <a:gdLst/>
            <a:ahLst/>
            <a:cxnLst/>
            <a:rect r="r" b="b" t="t" l="l"/>
            <a:pathLst>
              <a:path h="260523" w="13026139">
                <a:moveTo>
                  <a:pt x="0" y="0"/>
                </a:moveTo>
                <a:lnTo>
                  <a:pt x="13026139" y="0"/>
                </a:lnTo>
                <a:lnTo>
                  <a:pt x="13026139" y="260522"/>
                </a:lnTo>
                <a:lnTo>
                  <a:pt x="0" y="260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269296" y="5303098"/>
            <a:ext cx="2018704" cy="5037769"/>
          </a:xfrm>
          <a:custGeom>
            <a:avLst/>
            <a:gdLst/>
            <a:ahLst/>
            <a:cxnLst/>
            <a:rect r="r" b="b" t="t" l="l"/>
            <a:pathLst>
              <a:path h="5037769" w="2018704">
                <a:moveTo>
                  <a:pt x="0" y="0"/>
                </a:moveTo>
                <a:lnTo>
                  <a:pt x="2018704" y="0"/>
                </a:lnTo>
                <a:lnTo>
                  <a:pt x="2018704" y="5037769"/>
                </a:lnTo>
                <a:lnTo>
                  <a:pt x="0" y="50377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7278" t="0" r="-74878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140800" y="1647712"/>
            <a:ext cx="2249170" cy="877894"/>
            <a:chOff x="0" y="0"/>
            <a:chExt cx="13356099" cy="52131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18276" y="412058"/>
              <a:ext cx="11763122" cy="4320069"/>
            </a:xfrm>
            <a:custGeom>
              <a:avLst/>
              <a:gdLst/>
              <a:ahLst/>
              <a:cxnLst/>
              <a:rect r="r" b="b" t="t" l="l"/>
              <a:pathLst>
                <a:path h="4320069" w="11763122">
                  <a:moveTo>
                    <a:pt x="197724" y="135312"/>
                  </a:moveTo>
                  <a:cubicBezTo>
                    <a:pt x="176134" y="135312"/>
                    <a:pt x="158354" y="135312"/>
                    <a:pt x="140574" y="135312"/>
                  </a:cubicBezTo>
                  <a:cubicBezTo>
                    <a:pt x="139304" y="132772"/>
                    <a:pt x="138034" y="130232"/>
                    <a:pt x="136764" y="127692"/>
                  </a:cubicBezTo>
                  <a:cubicBezTo>
                    <a:pt x="616824" y="-100908"/>
                    <a:pt x="1213724" y="54032"/>
                    <a:pt x="1733154" y="21012"/>
                  </a:cubicBezTo>
                  <a:cubicBezTo>
                    <a:pt x="9430133" y="37522"/>
                    <a:pt x="10121013" y="15932"/>
                    <a:pt x="10810623" y="5772"/>
                  </a:cubicBezTo>
                  <a:cubicBezTo>
                    <a:pt x="11836783" y="-18358"/>
                    <a:pt x="11744073" y="179762"/>
                    <a:pt x="11763123" y="1096702"/>
                  </a:cubicBezTo>
                  <a:cubicBezTo>
                    <a:pt x="11737723" y="2037925"/>
                    <a:pt x="11775823" y="2146783"/>
                    <a:pt x="11756773" y="3240253"/>
                  </a:cubicBezTo>
                  <a:cubicBezTo>
                    <a:pt x="11755503" y="3492983"/>
                    <a:pt x="11758043" y="3745713"/>
                    <a:pt x="11758043" y="3998443"/>
                  </a:cubicBezTo>
                  <a:cubicBezTo>
                    <a:pt x="11772013" y="4210533"/>
                    <a:pt x="11625963" y="4258793"/>
                    <a:pt x="11441813" y="4258793"/>
                  </a:cubicBezTo>
                  <a:cubicBezTo>
                    <a:pt x="10061323" y="4305783"/>
                    <a:pt x="1670924" y="4334993"/>
                    <a:pt x="289164" y="4312133"/>
                  </a:cubicBezTo>
                  <a:cubicBezTo>
                    <a:pt x="64374" y="4300703"/>
                    <a:pt x="51674" y="4036543"/>
                    <a:pt x="28814" y="3865093"/>
                  </a:cubicBezTo>
                  <a:cubicBezTo>
                    <a:pt x="9764" y="3424403"/>
                    <a:pt x="21194" y="2982443"/>
                    <a:pt x="21194" y="2541754"/>
                  </a:cubicBezTo>
                  <a:cubicBezTo>
                    <a:pt x="25004" y="2051613"/>
                    <a:pt x="-5476" y="2039426"/>
                    <a:pt x="874" y="1575492"/>
                  </a:cubicBezTo>
                  <a:cubicBezTo>
                    <a:pt x="36434" y="1146232"/>
                    <a:pt x="-89296" y="464242"/>
                    <a:pt x="197724" y="135312"/>
                  </a:cubicBezTo>
                  <a:close/>
                  <a:moveTo>
                    <a:pt x="11697083" y="742372"/>
                  </a:moveTo>
                  <a:cubicBezTo>
                    <a:pt x="10174353" y="807142"/>
                    <a:pt x="1646794" y="751262"/>
                    <a:pt x="122794" y="794442"/>
                  </a:cubicBezTo>
                  <a:cubicBezTo>
                    <a:pt x="70724" y="795712"/>
                    <a:pt x="69454" y="796982"/>
                    <a:pt x="69454" y="847782"/>
                  </a:cubicBezTo>
                  <a:cubicBezTo>
                    <a:pt x="35164" y="1933632"/>
                    <a:pt x="80884" y="2052341"/>
                    <a:pt x="75804" y="2967204"/>
                  </a:cubicBezTo>
                  <a:cubicBezTo>
                    <a:pt x="85964" y="3348204"/>
                    <a:pt x="44054" y="3734283"/>
                    <a:pt x="131684" y="4108933"/>
                  </a:cubicBezTo>
                  <a:cubicBezTo>
                    <a:pt x="190104" y="4361663"/>
                    <a:pt x="550784" y="4257523"/>
                    <a:pt x="742554" y="4286733"/>
                  </a:cubicBezTo>
                  <a:cubicBezTo>
                    <a:pt x="3470402" y="4257523"/>
                    <a:pt x="10090533" y="4251173"/>
                    <a:pt x="11261473" y="4202913"/>
                  </a:cubicBezTo>
                  <a:cubicBezTo>
                    <a:pt x="11882503" y="4209263"/>
                    <a:pt x="11665333" y="4070833"/>
                    <a:pt x="11698353" y="3570454"/>
                  </a:cubicBezTo>
                  <a:cubicBezTo>
                    <a:pt x="11702163" y="2249654"/>
                    <a:pt x="11678033" y="2035740"/>
                    <a:pt x="11697083" y="742372"/>
                  </a:cubicBezTo>
                  <a:close/>
                  <a:moveTo>
                    <a:pt x="71994" y="747452"/>
                  </a:moveTo>
                  <a:cubicBezTo>
                    <a:pt x="1612504" y="719512"/>
                    <a:pt x="10155303" y="724592"/>
                    <a:pt x="11695813" y="683952"/>
                  </a:cubicBezTo>
                  <a:cubicBezTo>
                    <a:pt x="11666603" y="106102"/>
                    <a:pt x="11600563" y="92132"/>
                    <a:pt x="11034143" y="62922"/>
                  </a:cubicBezTo>
                  <a:cubicBezTo>
                    <a:pt x="10615043" y="57842"/>
                    <a:pt x="10195943" y="70542"/>
                    <a:pt x="9776843" y="78162"/>
                  </a:cubicBezTo>
                  <a:cubicBezTo>
                    <a:pt x="4766735" y="114992"/>
                    <a:pt x="1155304" y="24822"/>
                    <a:pt x="350124" y="95942"/>
                  </a:cubicBezTo>
                  <a:cubicBezTo>
                    <a:pt x="102474" y="160712"/>
                    <a:pt x="92314" y="531552"/>
                    <a:pt x="71994" y="747452"/>
                  </a:cubicBezTo>
                  <a:close/>
                  <a:moveTo>
                    <a:pt x="9207883" y="4112743"/>
                  </a:moveTo>
                  <a:cubicBezTo>
                    <a:pt x="7294578" y="4083533"/>
                    <a:pt x="1559164" y="4195293"/>
                    <a:pt x="1560434" y="4008603"/>
                  </a:cubicBezTo>
                  <a:cubicBezTo>
                    <a:pt x="1573134" y="3799053"/>
                    <a:pt x="1533764" y="3679673"/>
                    <a:pt x="1795384" y="3682213"/>
                  </a:cubicBezTo>
                  <a:cubicBezTo>
                    <a:pt x="9145653" y="3668243"/>
                    <a:pt x="9489823" y="3655543"/>
                    <a:pt x="9835263" y="3668243"/>
                  </a:cubicBezTo>
                  <a:cubicBezTo>
                    <a:pt x="9925433" y="3684753"/>
                    <a:pt x="10063863" y="3653003"/>
                    <a:pt x="10128633" y="3724123"/>
                  </a:cubicBezTo>
                  <a:cubicBezTo>
                    <a:pt x="10154033" y="3865093"/>
                    <a:pt x="10192133" y="4059403"/>
                    <a:pt x="9988933" y="4077183"/>
                  </a:cubicBezTo>
                  <a:cubicBezTo>
                    <a:pt x="9729853" y="4116553"/>
                    <a:pt x="9469503" y="4110203"/>
                    <a:pt x="9207883" y="4107663"/>
                  </a:cubicBezTo>
                  <a:cubicBezTo>
                    <a:pt x="9207883" y="4108933"/>
                    <a:pt x="9207883" y="4111474"/>
                    <a:pt x="9207883" y="4112743"/>
                  </a:cubicBezTo>
                  <a:close/>
                  <a:moveTo>
                    <a:pt x="9165973" y="4068293"/>
                  </a:moveTo>
                  <a:cubicBezTo>
                    <a:pt x="9165973" y="4067023"/>
                    <a:pt x="9165973" y="4067023"/>
                    <a:pt x="9165973" y="4065753"/>
                  </a:cubicBezTo>
                  <a:cubicBezTo>
                    <a:pt x="9334883" y="4028923"/>
                    <a:pt x="10147683" y="4122903"/>
                    <a:pt x="10123553" y="3909543"/>
                  </a:cubicBezTo>
                  <a:cubicBezTo>
                    <a:pt x="10109583" y="3851123"/>
                    <a:pt x="10140063" y="3721583"/>
                    <a:pt x="10060053" y="3715233"/>
                  </a:cubicBezTo>
                  <a:cubicBezTo>
                    <a:pt x="9689213" y="3703803"/>
                    <a:pt x="9319643" y="3725393"/>
                    <a:pt x="4215797" y="3733013"/>
                  </a:cubicBezTo>
                  <a:cubicBezTo>
                    <a:pt x="1830944" y="3754603"/>
                    <a:pt x="1599804" y="3702533"/>
                    <a:pt x="1602344" y="3870173"/>
                  </a:cubicBezTo>
                  <a:cubicBezTo>
                    <a:pt x="1604884" y="3966693"/>
                    <a:pt x="1578214" y="4082263"/>
                    <a:pt x="1714104" y="4068293"/>
                  </a:cubicBezTo>
                  <a:cubicBezTo>
                    <a:pt x="2174078" y="4068293"/>
                    <a:pt x="5965839" y="4068293"/>
                    <a:pt x="9165973" y="4068293"/>
                  </a:cubicBezTo>
                  <a:close/>
                  <a:moveTo>
                    <a:pt x="771764" y="583622"/>
                  </a:moveTo>
                  <a:cubicBezTo>
                    <a:pt x="557134" y="569652"/>
                    <a:pt x="606664" y="297872"/>
                    <a:pt x="793354" y="325812"/>
                  </a:cubicBezTo>
                  <a:cubicBezTo>
                    <a:pt x="969884" y="366452"/>
                    <a:pt x="941944" y="550602"/>
                    <a:pt x="771764" y="583622"/>
                  </a:cubicBezTo>
                  <a:close/>
                  <a:moveTo>
                    <a:pt x="783194" y="513772"/>
                  </a:moveTo>
                  <a:cubicBezTo>
                    <a:pt x="924164" y="488372"/>
                    <a:pt x="844154" y="357562"/>
                    <a:pt x="738744" y="366452"/>
                  </a:cubicBezTo>
                  <a:cubicBezTo>
                    <a:pt x="647304" y="414712"/>
                    <a:pt x="677784" y="516312"/>
                    <a:pt x="783194" y="513772"/>
                  </a:cubicBezTo>
                  <a:close/>
                  <a:moveTo>
                    <a:pt x="1225154" y="447732"/>
                  </a:moveTo>
                  <a:cubicBezTo>
                    <a:pt x="1230234" y="573462"/>
                    <a:pt x="1033384" y="591242"/>
                    <a:pt x="991474" y="487102"/>
                  </a:cubicBezTo>
                  <a:cubicBezTo>
                    <a:pt x="954644" y="413442"/>
                    <a:pt x="1039734" y="301682"/>
                    <a:pt x="1122284" y="332162"/>
                  </a:cubicBezTo>
                  <a:cubicBezTo>
                    <a:pt x="1195944" y="370262"/>
                    <a:pt x="1225154" y="403282"/>
                    <a:pt x="1225154" y="447732"/>
                  </a:cubicBezTo>
                  <a:close/>
                  <a:moveTo>
                    <a:pt x="1192134" y="440112"/>
                  </a:moveTo>
                  <a:cubicBezTo>
                    <a:pt x="1122284" y="376612"/>
                    <a:pt x="1104504" y="318192"/>
                    <a:pt x="1048624" y="429952"/>
                  </a:cubicBezTo>
                  <a:cubicBezTo>
                    <a:pt x="1048624" y="517582"/>
                    <a:pt x="1160384" y="525202"/>
                    <a:pt x="1192134" y="440112"/>
                  </a:cubicBezTo>
                  <a:close/>
                  <a:moveTo>
                    <a:pt x="533004" y="445192"/>
                  </a:moveTo>
                  <a:cubicBezTo>
                    <a:pt x="548244" y="605212"/>
                    <a:pt x="286624" y="606482"/>
                    <a:pt x="305674" y="449002"/>
                  </a:cubicBezTo>
                  <a:cubicBezTo>
                    <a:pt x="318374" y="343592"/>
                    <a:pt x="545704" y="306762"/>
                    <a:pt x="533004" y="445192"/>
                  </a:cubicBezTo>
                  <a:close/>
                  <a:moveTo>
                    <a:pt x="488554" y="441382"/>
                  </a:moveTo>
                  <a:cubicBezTo>
                    <a:pt x="494904" y="352482"/>
                    <a:pt x="355204" y="404552"/>
                    <a:pt x="357744" y="462972"/>
                  </a:cubicBezTo>
                  <a:cubicBezTo>
                    <a:pt x="362824" y="540442"/>
                    <a:pt x="492364" y="527742"/>
                    <a:pt x="488554" y="4413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262226" y="2928937"/>
            <a:ext cx="500111" cy="50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5"/>
              </a:lnSpc>
              <a:spcBef>
                <a:spcPct val="0"/>
              </a:spcBef>
            </a:pPr>
            <a:r>
              <a:rPr lang="en-US" sz="27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8817" y="2668481"/>
            <a:ext cx="17570366" cy="74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user_id (รหัสผู้ใช้) ➔ name (ชื่อ) ➔ email (Email) ➔ password (Password) ➔ role (Customer/Admin)</a:t>
            </a:r>
          </a:p>
          <a:p>
            <a:pPr algn="ctr">
              <a:lnSpc>
                <a:spcPts val="293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4716526" y="7651295"/>
            <a:ext cx="8854947" cy="800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  <a:spcBef>
                <a:spcPct val="0"/>
              </a:spcBef>
            </a:pPr>
            <a:r>
              <a:rPr lang="en-US" sz="2229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category_id (รหัสประเภท) ➔ category_name (ชื่อประเภท)</a:t>
            </a:r>
          </a:p>
          <a:p>
            <a:pPr algn="ctr">
              <a:lnSpc>
                <a:spcPts val="3121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6532998" y="5510954"/>
            <a:ext cx="1452605" cy="452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ความสัมพันธ์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Users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│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│ 1 : M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▼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Orders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│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│ 1 : M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▼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Order_Details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│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│ M : 1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▼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Products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│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│ M : 1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▼</a:t>
            </a:r>
          </a:p>
          <a:p>
            <a:pPr algn="ctr">
              <a:lnSpc>
                <a:spcPts val="1987"/>
              </a:lnSpc>
              <a:spcBef>
                <a:spcPct val="0"/>
              </a:spcBef>
            </a:pPr>
            <a:r>
              <a:rPr lang="en-US" sz="1419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Categories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9702" y="1847609"/>
            <a:ext cx="3982524" cy="37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user Table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9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9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9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9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9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9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849516"/>
            <a:ext cx="3137325" cy="7255916"/>
          </a:xfrm>
          <a:custGeom>
            <a:avLst/>
            <a:gdLst/>
            <a:ahLst/>
            <a:cxnLst/>
            <a:rect r="r" b="b" t="t" l="l"/>
            <a:pathLst>
              <a:path h="7255916" w="3137325">
                <a:moveTo>
                  <a:pt x="0" y="0"/>
                </a:moveTo>
                <a:lnTo>
                  <a:pt x="3137325" y="0"/>
                </a:lnTo>
                <a:lnTo>
                  <a:pt x="3137325" y="7255916"/>
                </a:lnTo>
                <a:lnTo>
                  <a:pt x="0" y="7255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6" t="0" r="-373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45414" y="1849516"/>
            <a:ext cx="2488836" cy="7703853"/>
          </a:xfrm>
          <a:custGeom>
            <a:avLst/>
            <a:gdLst/>
            <a:ahLst/>
            <a:cxnLst/>
            <a:rect r="r" b="b" t="t" l="l"/>
            <a:pathLst>
              <a:path h="7703853" w="2488836">
                <a:moveTo>
                  <a:pt x="0" y="0"/>
                </a:moveTo>
                <a:lnTo>
                  <a:pt x="2488836" y="0"/>
                </a:lnTo>
                <a:lnTo>
                  <a:pt x="2488836" y="7703853"/>
                </a:lnTo>
                <a:lnTo>
                  <a:pt x="0" y="7703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413639" y="1849516"/>
            <a:ext cx="2420895" cy="7953659"/>
          </a:xfrm>
          <a:custGeom>
            <a:avLst/>
            <a:gdLst/>
            <a:ahLst/>
            <a:cxnLst/>
            <a:rect r="r" b="b" t="t" l="l"/>
            <a:pathLst>
              <a:path h="7953659" w="2420895">
                <a:moveTo>
                  <a:pt x="0" y="0"/>
                </a:moveTo>
                <a:lnTo>
                  <a:pt x="2420895" y="0"/>
                </a:lnTo>
                <a:lnTo>
                  <a:pt x="2420895" y="7953659"/>
                </a:lnTo>
                <a:lnTo>
                  <a:pt x="0" y="7953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10959" y="1849516"/>
            <a:ext cx="2076889" cy="7968877"/>
          </a:xfrm>
          <a:custGeom>
            <a:avLst/>
            <a:gdLst/>
            <a:ahLst/>
            <a:cxnLst/>
            <a:rect r="r" b="b" t="t" l="l"/>
            <a:pathLst>
              <a:path h="7968877" w="2076889">
                <a:moveTo>
                  <a:pt x="0" y="0"/>
                </a:moveTo>
                <a:lnTo>
                  <a:pt x="2076889" y="0"/>
                </a:lnTo>
                <a:lnTo>
                  <a:pt x="2076889" y="7968877"/>
                </a:lnTo>
                <a:lnTo>
                  <a:pt x="0" y="79688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01041" y="278048"/>
            <a:ext cx="6382720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GUI / UI Concept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86981" y="2135177"/>
            <a:ext cx="2414960" cy="7359879"/>
          </a:xfrm>
          <a:custGeom>
            <a:avLst/>
            <a:gdLst/>
            <a:ahLst/>
            <a:cxnLst/>
            <a:rect r="r" b="b" t="t" l="l"/>
            <a:pathLst>
              <a:path h="7359879" w="2414960">
                <a:moveTo>
                  <a:pt x="0" y="0"/>
                </a:moveTo>
                <a:lnTo>
                  <a:pt x="2414960" y="0"/>
                </a:lnTo>
                <a:lnTo>
                  <a:pt x="241496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92566" y="2135177"/>
            <a:ext cx="2493159" cy="7359879"/>
          </a:xfrm>
          <a:custGeom>
            <a:avLst/>
            <a:gdLst/>
            <a:ahLst/>
            <a:cxnLst/>
            <a:rect r="r" b="b" t="t" l="l"/>
            <a:pathLst>
              <a:path h="7359879" w="2493159">
                <a:moveTo>
                  <a:pt x="0" y="0"/>
                </a:moveTo>
                <a:lnTo>
                  <a:pt x="2493159" y="0"/>
                </a:lnTo>
                <a:lnTo>
                  <a:pt x="2493159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33363" y="2064461"/>
            <a:ext cx="1835370" cy="7359879"/>
          </a:xfrm>
          <a:custGeom>
            <a:avLst/>
            <a:gdLst/>
            <a:ahLst/>
            <a:cxnLst/>
            <a:rect r="r" b="b" t="t" l="l"/>
            <a:pathLst>
              <a:path h="7359879" w="1835370">
                <a:moveTo>
                  <a:pt x="0" y="0"/>
                </a:moveTo>
                <a:lnTo>
                  <a:pt x="1835369" y="0"/>
                </a:lnTo>
                <a:lnTo>
                  <a:pt x="1835369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68857" y="2064461"/>
            <a:ext cx="2332162" cy="7359879"/>
          </a:xfrm>
          <a:custGeom>
            <a:avLst/>
            <a:gdLst/>
            <a:ahLst/>
            <a:cxnLst/>
            <a:rect r="r" b="b" t="t" l="l"/>
            <a:pathLst>
              <a:path h="7359879" w="2332162">
                <a:moveTo>
                  <a:pt x="0" y="0"/>
                </a:moveTo>
                <a:lnTo>
                  <a:pt x="2332162" y="0"/>
                </a:lnTo>
                <a:lnTo>
                  <a:pt x="2332162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38580" y="2135177"/>
            <a:ext cx="1908969" cy="7359879"/>
          </a:xfrm>
          <a:custGeom>
            <a:avLst/>
            <a:gdLst/>
            <a:ahLst/>
            <a:cxnLst/>
            <a:rect r="r" b="b" t="t" l="l"/>
            <a:pathLst>
              <a:path h="7359879" w="1908969">
                <a:moveTo>
                  <a:pt x="0" y="0"/>
                </a:moveTo>
                <a:lnTo>
                  <a:pt x="1908969" y="0"/>
                </a:lnTo>
                <a:lnTo>
                  <a:pt x="1908969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01041" y="278048"/>
            <a:ext cx="6382720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GUI / UI Concept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6473" y="1360359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222348" y="1716067"/>
            <a:ext cx="5993501" cy="7023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🛠️ </a:t>
            </a: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Technology Stack</a:t>
            </a:r>
          </a:p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Frontend</a:t>
            </a:r>
          </a:p>
          <a:p>
            <a:pPr algn="l" marL="536362" indent="-268181" lvl="1">
              <a:lnSpc>
                <a:spcPts val="3478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React / React Native</a:t>
            </a:r>
          </a:p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Backend</a:t>
            </a:r>
          </a:p>
          <a:p>
            <a:pPr algn="l" marL="536362" indent="-268181" lvl="1">
              <a:lnSpc>
                <a:spcPts val="3478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Node.js + Express</a:t>
            </a:r>
          </a:p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Database</a:t>
            </a:r>
          </a:p>
          <a:p>
            <a:pPr algn="l" marL="536362" indent="-268181" lvl="1">
              <a:lnSpc>
                <a:spcPts val="3478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MySQL</a:t>
            </a:r>
          </a:p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phpMyAdmin</a:t>
            </a:r>
          </a:p>
          <a:p>
            <a:pPr algn="l" marL="536362" indent="-268181" lvl="1">
              <a:lnSpc>
                <a:spcPts val="3478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API &amp; Authentication</a:t>
            </a:r>
          </a:p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REST API</a:t>
            </a:r>
          </a:p>
          <a:p>
            <a:pPr algn="l" marL="536362" indent="-268181" lvl="1">
              <a:lnSpc>
                <a:spcPts val="3478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JWT</a:t>
            </a:r>
          </a:p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Design &amp; Development</a:t>
            </a:r>
          </a:p>
          <a:p>
            <a:pPr algn="l" marL="536362" indent="-268181" lvl="1">
              <a:lnSpc>
                <a:spcPts val="3478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Figma</a:t>
            </a:r>
          </a:p>
          <a:p>
            <a:pPr algn="l" marL="536362" indent="-268181" lvl="1">
              <a:lnSpc>
                <a:spcPts val="3478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VS Code   </a:t>
            </a:r>
          </a:p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Version</a:t>
            </a: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</a:t>
            </a: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Control</a:t>
            </a:r>
          </a:p>
          <a:p>
            <a:pPr algn="l" marL="536362" indent="-268181" lvl="1">
              <a:lnSpc>
                <a:spcPts val="3478"/>
              </a:lnSpc>
              <a:buFont typeface="Arial"/>
              <a:buChar char="•"/>
            </a:pPr>
            <a:r>
              <a:rPr lang="en-US" sz="2484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Git / GitHub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35360" y="2244307"/>
            <a:ext cx="3877888" cy="602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System Architecture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👤 Customer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   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     ▼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┌────────────────┐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│ React / React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│ Native       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└───────┬────────┘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   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     ▼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REST API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   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     ▼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┌────────────────┐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│ Node.js      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│ Express      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└───────┬────────┘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   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        ▼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┌────────────────┐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│     MySQL      │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54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   └────────────────┘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891364">
            <a:off x="76247" y="8616964"/>
            <a:ext cx="972694" cy="721584"/>
          </a:xfrm>
          <a:custGeom>
            <a:avLst/>
            <a:gdLst/>
            <a:ahLst/>
            <a:cxnLst/>
            <a:rect r="r" b="b" t="t" l="l"/>
            <a:pathLst>
              <a:path h="721584" w="972694">
                <a:moveTo>
                  <a:pt x="0" y="0"/>
                </a:moveTo>
                <a:lnTo>
                  <a:pt x="972694" y="0"/>
                </a:lnTo>
                <a:lnTo>
                  <a:pt x="972694" y="721584"/>
                </a:lnTo>
                <a:lnTo>
                  <a:pt x="0" y="7215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5188" y="9141135"/>
            <a:ext cx="1687650" cy="1461656"/>
          </a:xfrm>
          <a:custGeom>
            <a:avLst/>
            <a:gdLst/>
            <a:ahLst/>
            <a:cxnLst/>
            <a:rect r="r" b="b" t="t" l="l"/>
            <a:pathLst>
              <a:path h="1461656" w="1687650">
                <a:moveTo>
                  <a:pt x="0" y="0"/>
                </a:moveTo>
                <a:lnTo>
                  <a:pt x="1687649" y="0"/>
                </a:lnTo>
                <a:lnTo>
                  <a:pt x="1687649" y="1461656"/>
                </a:lnTo>
                <a:lnTo>
                  <a:pt x="0" y="1461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07901" y="7715649"/>
            <a:ext cx="3347525" cy="3085302"/>
          </a:xfrm>
          <a:custGeom>
            <a:avLst/>
            <a:gdLst/>
            <a:ahLst/>
            <a:cxnLst/>
            <a:rect r="r" b="b" t="t" l="l"/>
            <a:pathLst>
              <a:path h="3085302" w="3347525">
                <a:moveTo>
                  <a:pt x="0" y="0"/>
                </a:moveTo>
                <a:lnTo>
                  <a:pt x="3347525" y="0"/>
                </a:lnTo>
                <a:lnTo>
                  <a:pt x="3347525" y="3085302"/>
                </a:lnTo>
                <a:lnTo>
                  <a:pt x="0" y="3085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0709560">
            <a:off x="17305984" y="2295075"/>
            <a:ext cx="972694" cy="721584"/>
          </a:xfrm>
          <a:custGeom>
            <a:avLst/>
            <a:gdLst/>
            <a:ahLst/>
            <a:cxnLst/>
            <a:rect r="r" b="b" t="t" l="l"/>
            <a:pathLst>
              <a:path h="721584" w="972694">
                <a:moveTo>
                  <a:pt x="0" y="0"/>
                </a:moveTo>
                <a:lnTo>
                  <a:pt x="972694" y="0"/>
                </a:lnTo>
                <a:lnTo>
                  <a:pt x="972694" y="721584"/>
                </a:lnTo>
                <a:lnTo>
                  <a:pt x="0" y="7215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9999075">
            <a:off x="15786537" y="730281"/>
            <a:ext cx="1687650" cy="1461656"/>
          </a:xfrm>
          <a:custGeom>
            <a:avLst/>
            <a:gdLst/>
            <a:ahLst/>
            <a:cxnLst/>
            <a:rect r="r" b="b" t="t" l="l"/>
            <a:pathLst>
              <a:path h="1461656" w="1687650">
                <a:moveTo>
                  <a:pt x="0" y="0"/>
                </a:moveTo>
                <a:lnTo>
                  <a:pt x="1687650" y="0"/>
                </a:lnTo>
                <a:lnTo>
                  <a:pt x="1687650" y="1461657"/>
                </a:lnTo>
                <a:lnTo>
                  <a:pt x="0" y="14616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952640" y="4876864"/>
            <a:ext cx="6382720" cy="75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Technology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10399" y="1438421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891364">
            <a:off x="287889" y="7754136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2" y="0"/>
                </a:lnTo>
                <a:lnTo>
                  <a:pt x="888652" y="659238"/>
                </a:lnTo>
                <a:lnTo>
                  <a:pt x="0" y="659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6200" y="8233017"/>
            <a:ext cx="1541835" cy="1335368"/>
          </a:xfrm>
          <a:custGeom>
            <a:avLst/>
            <a:gdLst/>
            <a:ahLst/>
            <a:cxnLst/>
            <a:rect r="r" b="b" t="t" l="l"/>
            <a:pathLst>
              <a:path h="1335368" w="1541835">
                <a:moveTo>
                  <a:pt x="0" y="0"/>
                </a:moveTo>
                <a:lnTo>
                  <a:pt x="1541835" y="0"/>
                </a:lnTo>
                <a:lnTo>
                  <a:pt x="1541835" y="1335368"/>
                </a:lnTo>
                <a:lnTo>
                  <a:pt x="0" y="1335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0399" y="492685"/>
            <a:ext cx="2377636" cy="2717298"/>
          </a:xfrm>
          <a:custGeom>
            <a:avLst/>
            <a:gdLst/>
            <a:ahLst/>
            <a:cxnLst/>
            <a:rect r="r" b="b" t="t" l="l"/>
            <a:pathLst>
              <a:path h="2717298" w="2377636">
                <a:moveTo>
                  <a:pt x="0" y="0"/>
                </a:moveTo>
                <a:lnTo>
                  <a:pt x="2377636" y="0"/>
                </a:lnTo>
                <a:lnTo>
                  <a:pt x="2377636" y="2717298"/>
                </a:lnTo>
                <a:lnTo>
                  <a:pt x="0" y="27172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43031" y="6930695"/>
            <a:ext cx="3058295" cy="2818728"/>
          </a:xfrm>
          <a:custGeom>
            <a:avLst/>
            <a:gdLst/>
            <a:ahLst/>
            <a:cxnLst/>
            <a:rect r="r" b="b" t="t" l="l"/>
            <a:pathLst>
              <a:path h="2818728" w="3058295">
                <a:moveTo>
                  <a:pt x="0" y="0"/>
                </a:moveTo>
                <a:lnTo>
                  <a:pt x="3058295" y="0"/>
                </a:lnTo>
                <a:lnTo>
                  <a:pt x="3058295" y="2818728"/>
                </a:lnTo>
                <a:lnTo>
                  <a:pt x="0" y="2818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952640" y="1154107"/>
            <a:ext cx="6382720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Investment Budget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891364">
            <a:off x="15666484" y="1108802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1" y="0"/>
                </a:lnTo>
                <a:lnTo>
                  <a:pt x="888651" y="659238"/>
                </a:lnTo>
                <a:lnTo>
                  <a:pt x="0" y="659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110809" y="1980967"/>
            <a:ext cx="1541835" cy="1335368"/>
          </a:xfrm>
          <a:custGeom>
            <a:avLst/>
            <a:gdLst/>
            <a:ahLst/>
            <a:cxnLst/>
            <a:rect r="r" b="b" t="t" l="l"/>
            <a:pathLst>
              <a:path h="1335368" w="1541835">
                <a:moveTo>
                  <a:pt x="0" y="0"/>
                </a:moveTo>
                <a:lnTo>
                  <a:pt x="1541835" y="0"/>
                </a:lnTo>
                <a:lnTo>
                  <a:pt x="1541835" y="1335368"/>
                </a:lnTo>
                <a:lnTo>
                  <a:pt x="0" y="13353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690033">
            <a:off x="17031392" y="861742"/>
            <a:ext cx="796854" cy="813329"/>
          </a:xfrm>
          <a:custGeom>
            <a:avLst/>
            <a:gdLst/>
            <a:ahLst/>
            <a:cxnLst/>
            <a:rect r="r" b="b" t="t" l="l"/>
            <a:pathLst>
              <a:path h="813329" w="796854">
                <a:moveTo>
                  <a:pt x="0" y="0"/>
                </a:moveTo>
                <a:lnTo>
                  <a:pt x="796853" y="0"/>
                </a:lnTo>
                <a:lnTo>
                  <a:pt x="796853" y="813329"/>
                </a:lnTo>
                <a:lnTo>
                  <a:pt x="0" y="8133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287910" r="-565582" b="-398613"/>
            </a:stretch>
          </a:blipFill>
        </p:spPr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3261981" y="2147159"/>
          <a:ext cx="11107105" cy="6587490"/>
        </p:xfrm>
        <a:graphic>
          <a:graphicData uri="http://schemas.openxmlformats.org/drawingml/2006/table">
            <a:tbl>
              <a:tblPr/>
              <a:tblGrid>
                <a:gridCol w="5575901"/>
                <a:gridCol w="5531203"/>
              </a:tblGrid>
              <a:tr h="8979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IBM Plex Sans Thai Bold"/>
                          <a:ea typeface="IBM Plex Sans Thai Bold"/>
                          <a:cs typeface="IBM Plex Sans Thai Bold"/>
                          <a:sym typeface="IBM Plex Sans Thai Bold"/>
                        </a:rPr>
                        <a:t>รายการ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FFFFFF"/>
                          </a:solidFill>
                          <a:latin typeface="IBM Plex Sans Thai Bold"/>
                          <a:ea typeface="IBM Plex Sans Thai Bold"/>
                          <a:cs typeface="IBM Plex Sans Thai Bold"/>
                          <a:sym typeface="IBM Plex Sans Thai Bold"/>
                        </a:rPr>
                        <a:t>งบประมาณ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73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ออกแบบ UI/UX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3,000 บาท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พัฒนา Frontend และ 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15,000 บาท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พัฒนาฐานข้อมูล MySQL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3,000 บาท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ระบบทดลองแว่นตาเสมือนจริง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8,000 บาท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ค่า Server และ Domain ปีแรก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3,000 บาท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ทดสอบและปรับปรุงระบบ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3,000 บาท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6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รวมเงินลงทุนเริ่มต้น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IBM Plex Sans Thai"/>
                          <a:ea typeface="IBM Plex Sans Thai"/>
                          <a:cs typeface="IBM Plex Sans Thai"/>
                          <a:sym typeface="IBM Plex Sans Thai"/>
                        </a:rPr>
                        <a:t>35,000 บาท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4139" y="1360359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891364">
            <a:off x="2320656" y="5496891"/>
            <a:ext cx="888652" cy="659238"/>
          </a:xfrm>
          <a:custGeom>
            <a:avLst/>
            <a:gdLst/>
            <a:ahLst/>
            <a:cxnLst/>
            <a:rect r="r" b="b" t="t" l="l"/>
            <a:pathLst>
              <a:path h="659238" w="888652">
                <a:moveTo>
                  <a:pt x="0" y="0"/>
                </a:moveTo>
                <a:lnTo>
                  <a:pt x="888652" y="0"/>
                </a:lnTo>
                <a:lnTo>
                  <a:pt x="888652" y="659239"/>
                </a:lnTo>
                <a:lnTo>
                  <a:pt x="0" y="6592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05194" t="0" r="-155295" b="-46995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44444" y="4641646"/>
            <a:ext cx="1541835" cy="1335368"/>
          </a:xfrm>
          <a:custGeom>
            <a:avLst/>
            <a:gdLst/>
            <a:ahLst/>
            <a:cxnLst/>
            <a:rect r="r" b="b" t="t" l="l"/>
            <a:pathLst>
              <a:path h="1335368" w="1541835">
                <a:moveTo>
                  <a:pt x="0" y="0"/>
                </a:moveTo>
                <a:lnTo>
                  <a:pt x="1541835" y="0"/>
                </a:lnTo>
                <a:lnTo>
                  <a:pt x="1541835" y="1335367"/>
                </a:lnTo>
                <a:lnTo>
                  <a:pt x="0" y="13353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40487" t="0" r="-101756" b="-42395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2683" y="5826510"/>
            <a:ext cx="3611650" cy="4356157"/>
          </a:xfrm>
          <a:custGeom>
            <a:avLst/>
            <a:gdLst/>
            <a:ahLst/>
            <a:cxnLst/>
            <a:rect r="r" b="b" t="t" l="l"/>
            <a:pathLst>
              <a:path h="4356157" w="3611650">
                <a:moveTo>
                  <a:pt x="0" y="0"/>
                </a:moveTo>
                <a:lnTo>
                  <a:pt x="3611650" y="0"/>
                </a:lnTo>
                <a:lnTo>
                  <a:pt x="3611650" y="4356158"/>
                </a:lnTo>
                <a:lnTo>
                  <a:pt x="0" y="43561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923094" y="5826510"/>
            <a:ext cx="2875528" cy="3703842"/>
          </a:xfrm>
          <a:custGeom>
            <a:avLst/>
            <a:gdLst/>
            <a:ahLst/>
            <a:cxnLst/>
            <a:rect r="r" b="b" t="t" l="l"/>
            <a:pathLst>
              <a:path h="3703842" w="2875528">
                <a:moveTo>
                  <a:pt x="0" y="0"/>
                </a:moveTo>
                <a:lnTo>
                  <a:pt x="2875528" y="0"/>
                </a:lnTo>
                <a:lnTo>
                  <a:pt x="2875528" y="3703842"/>
                </a:lnTo>
                <a:lnTo>
                  <a:pt x="0" y="3703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782139">
            <a:off x="16401669" y="5098627"/>
            <a:ext cx="1109156" cy="1455768"/>
          </a:xfrm>
          <a:custGeom>
            <a:avLst/>
            <a:gdLst/>
            <a:ahLst/>
            <a:cxnLst/>
            <a:rect r="r" b="b" t="t" l="l"/>
            <a:pathLst>
              <a:path h="1455768" w="1109156">
                <a:moveTo>
                  <a:pt x="0" y="0"/>
                </a:moveTo>
                <a:lnTo>
                  <a:pt x="1109156" y="0"/>
                </a:lnTo>
                <a:lnTo>
                  <a:pt x="1109156" y="1455767"/>
                </a:lnTo>
                <a:lnTo>
                  <a:pt x="0" y="14557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41591" t="-32236" r="-385" b="-265208"/>
            </a:stretch>
          </a:blipFill>
        </p:spPr>
      </p:sp>
      <p:graphicFrame>
        <p:nvGraphicFramePr>
          <p:cNvPr name="Object 17" id="17"/>
          <p:cNvGraphicFramePr/>
          <p:nvPr/>
        </p:nvGraphicFramePr>
        <p:xfrm>
          <a:off x="4136217" y="5618016"/>
          <a:ext cx="5657850" cy="2514600"/>
        </p:xfrm>
        <a:graphic>
          <a:graphicData uri="http://schemas.openxmlformats.org/presentationml/2006/ole">
            <p:oleObj imgW="6781800" imgH="3644900" r:id="rId1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8" id="18"/>
          <p:cNvSpPr/>
          <p:nvPr/>
        </p:nvSpPr>
        <p:spPr>
          <a:xfrm flipH="false" flipV="false" rot="0">
            <a:off x="10981124" y="2105674"/>
            <a:ext cx="5849587" cy="3290393"/>
          </a:xfrm>
          <a:custGeom>
            <a:avLst/>
            <a:gdLst/>
            <a:ahLst/>
            <a:cxnLst/>
            <a:rect r="r" b="b" t="t" l="l"/>
            <a:pathLst>
              <a:path h="3290393" w="5849587">
                <a:moveTo>
                  <a:pt x="0" y="0"/>
                </a:moveTo>
                <a:lnTo>
                  <a:pt x="5849587" y="0"/>
                </a:lnTo>
                <a:lnTo>
                  <a:pt x="5849587" y="3290393"/>
                </a:lnTo>
                <a:lnTo>
                  <a:pt x="0" y="329039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24484" y="1962799"/>
            <a:ext cx="10739038" cy="334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0"/>
              </a:lnSpc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การคาดการณ์รายได้ กำไร และระยะเวลาคืนทุน</a:t>
            </a:r>
          </a:p>
          <a:p>
            <a:pPr algn="ctr">
              <a:lnSpc>
                <a:spcPts val="4440"/>
              </a:lnSpc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สมมติฐานในการคำนวณ:</a:t>
            </a:r>
          </a:p>
          <a:p>
            <a:pPr algn="just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ราคาขายแว่นตาเฉลี่ย 1,200 บาท/ชิ้น</a:t>
            </a:r>
          </a:p>
          <a:p>
            <a:pPr algn="just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ต้นทุนสินค้าและค่าใช้จ่ายผันแปร 700 บาท/ชิ้น</a:t>
            </a:r>
          </a:p>
          <a:p>
            <a:pPr algn="just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กำไรส่วนเกินต่อชิ้น 500 บาท</a:t>
            </a:r>
          </a:p>
          <a:p>
            <a:pPr algn="just" marL="560649" indent="-280325" lvl="1">
              <a:lnSpc>
                <a:spcPts val="4440"/>
              </a:lnSpc>
              <a:buFont typeface="Arial"/>
              <a:buChar char="•"/>
            </a:pPr>
            <a:r>
              <a:rPr lang="en-US" sz="25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ค่าใช้จ่ายดูแลระบบ 2,000 บาท/เดือน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72333" y="1089136"/>
            <a:ext cx="8743335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Revenue &amp; Payback Period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773391" y="3259000"/>
            <a:ext cx="10847292" cy="5005890"/>
          </a:xfrm>
          <a:custGeom>
            <a:avLst/>
            <a:gdLst/>
            <a:ahLst/>
            <a:cxnLst/>
            <a:rect r="r" b="b" t="t" l="l"/>
            <a:pathLst>
              <a:path h="5005890" w="10847292">
                <a:moveTo>
                  <a:pt x="0" y="0"/>
                </a:moveTo>
                <a:lnTo>
                  <a:pt x="10847292" y="0"/>
                </a:lnTo>
                <a:lnTo>
                  <a:pt x="10847292" y="5005889"/>
                </a:lnTo>
                <a:lnTo>
                  <a:pt x="0" y="50058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5" r="0" b="-245"/>
            </a:stretch>
          </a:blipFill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435310" y="1401035"/>
            <a:ext cx="8721821" cy="8721821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952640" y="596235"/>
            <a:ext cx="6382720" cy="75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Project Plan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306702" y="-1251744"/>
            <a:ext cx="19637244" cy="19689205"/>
          </a:xfrm>
          <a:custGeom>
            <a:avLst/>
            <a:gdLst/>
            <a:ahLst/>
            <a:cxnLst/>
            <a:rect r="r" b="b" t="t" l="l"/>
            <a:pathLst>
              <a:path h="19689205" w="19637244">
                <a:moveTo>
                  <a:pt x="0" y="0"/>
                </a:moveTo>
                <a:lnTo>
                  <a:pt x="19637243" y="0"/>
                </a:lnTo>
                <a:lnTo>
                  <a:pt x="19637243" y="19689205"/>
                </a:lnTo>
                <a:lnTo>
                  <a:pt x="0" y="19689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272" r="-38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6740" y="184707"/>
            <a:ext cx="3264694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6473" y="1360359"/>
            <a:ext cx="16859722" cy="7897941"/>
            <a:chOff x="0" y="0"/>
            <a:chExt cx="22479630" cy="10530587"/>
          </a:xfrm>
        </p:grpSpPr>
        <p:sp>
          <p:nvSpPr>
            <p:cNvPr name="Freeform 5" id="5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16730" y="1638265"/>
            <a:ext cx="13479209" cy="727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Expected Outcome</a:t>
            </a:r>
          </a:p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ระบบ แว่นตาตาโต จะช่วยให้</a:t>
            </a:r>
          </a:p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Customer</a:t>
            </a: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</a:p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312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“แอปพลิเคชันแว่นตาตาโต ถูกพัฒนาขึ้นเพื่อเชื่อมต่อระหว่างลูกค้าและบริษัท ให้การเลือกซื้อแว่นตาและการจัดการร้านค้าเป็นเรื่องง่ายในระบบเดียว”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43865" y="3293062"/>
            <a:ext cx="5255355" cy="412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0"/>
              </a:lnSpc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ฟีเจอร์สำหรับลูกค้า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​🔍</a:t>
            </a: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ค้นหาแว่นตาได้ง่าย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​📄 ดูรายละเอียดสินค้า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​🛒 เลือกซื้อสินค้าออนไลน์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​🛍️ จัดการตะกร้า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​💳 สั่งซื้อสินค้า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​📦 ตรวจสอบสถานะ Order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11919" y="3293062"/>
            <a:ext cx="7540204" cy="361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ระบบจัดการสำหรับ</a:t>
            </a: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บริษัทแว่นตาตาโต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​📦 จัดการสินค้า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​📊 จัดการ Stock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​📑 จัดการคำสั่งซื้อ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​⚡ ลดการทำงานแบบ Manual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  <a:r>
              <a:rPr lang="en-US" sz="2907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​🗄️ จัดเก็บข้อมูลอย่างเป็นระบบ</a:t>
            </a:r>
          </a:p>
          <a:p>
            <a:pPr algn="just">
              <a:lnSpc>
                <a:spcPts val="4070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383872" y="5437484"/>
            <a:ext cx="4020690" cy="4849516"/>
          </a:xfrm>
          <a:custGeom>
            <a:avLst/>
            <a:gdLst/>
            <a:ahLst/>
            <a:cxnLst/>
            <a:rect r="r" b="b" t="t" l="l"/>
            <a:pathLst>
              <a:path h="4849516" w="4020690">
                <a:moveTo>
                  <a:pt x="0" y="0"/>
                </a:moveTo>
                <a:lnTo>
                  <a:pt x="4020690" y="0"/>
                </a:lnTo>
                <a:lnTo>
                  <a:pt x="4020690" y="4849516"/>
                </a:lnTo>
                <a:lnTo>
                  <a:pt x="0" y="48495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07560">
            <a:off x="-251430" y="1982621"/>
            <a:ext cx="1755805" cy="1520395"/>
          </a:xfrm>
          <a:custGeom>
            <a:avLst/>
            <a:gdLst/>
            <a:ahLst/>
            <a:cxnLst/>
            <a:rect r="r" b="b" t="t" l="l"/>
            <a:pathLst>
              <a:path h="1520395" w="1755805">
                <a:moveTo>
                  <a:pt x="0" y="0"/>
                </a:moveTo>
                <a:lnTo>
                  <a:pt x="1755806" y="0"/>
                </a:lnTo>
                <a:lnTo>
                  <a:pt x="1755806" y="1520395"/>
                </a:lnTo>
                <a:lnTo>
                  <a:pt x="0" y="15203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6709" t="0" r="-140682" b="-26768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402291">
            <a:off x="771518" y="1200989"/>
            <a:ext cx="1137152" cy="1120830"/>
          </a:xfrm>
          <a:custGeom>
            <a:avLst/>
            <a:gdLst/>
            <a:ahLst/>
            <a:cxnLst/>
            <a:rect r="r" b="b" t="t" l="l"/>
            <a:pathLst>
              <a:path h="1120830" w="1137152">
                <a:moveTo>
                  <a:pt x="0" y="0"/>
                </a:moveTo>
                <a:lnTo>
                  <a:pt x="1137152" y="0"/>
                </a:lnTo>
                <a:lnTo>
                  <a:pt x="1137152" y="1120830"/>
                </a:lnTo>
                <a:lnTo>
                  <a:pt x="0" y="1120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1797" r="-374623" b="-28696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130503">
            <a:off x="16064283" y="464902"/>
            <a:ext cx="1755805" cy="1520395"/>
          </a:xfrm>
          <a:custGeom>
            <a:avLst/>
            <a:gdLst/>
            <a:ahLst/>
            <a:cxnLst/>
            <a:rect r="r" b="b" t="t" l="l"/>
            <a:pathLst>
              <a:path h="1520395" w="1755805">
                <a:moveTo>
                  <a:pt x="0" y="0"/>
                </a:moveTo>
                <a:lnTo>
                  <a:pt x="1755805" y="0"/>
                </a:lnTo>
                <a:lnTo>
                  <a:pt x="1755805" y="1520395"/>
                </a:lnTo>
                <a:lnTo>
                  <a:pt x="0" y="15203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6709" t="0" r="-140682" b="-26768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8540355">
            <a:off x="16886622" y="1764342"/>
            <a:ext cx="1137152" cy="1120830"/>
          </a:xfrm>
          <a:custGeom>
            <a:avLst/>
            <a:gdLst/>
            <a:ahLst/>
            <a:cxnLst/>
            <a:rect r="r" b="b" t="t" l="l"/>
            <a:pathLst>
              <a:path h="1120830" w="1137152">
                <a:moveTo>
                  <a:pt x="0" y="0"/>
                </a:moveTo>
                <a:lnTo>
                  <a:pt x="1137153" y="0"/>
                </a:lnTo>
                <a:lnTo>
                  <a:pt x="1137153" y="1120830"/>
                </a:lnTo>
                <a:lnTo>
                  <a:pt x="0" y="11208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1797" r="-374623" b="-286968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628" y="691283"/>
            <a:ext cx="18288000" cy="8567017"/>
            <a:chOff x="0" y="0"/>
            <a:chExt cx="24384000" cy="1142269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10765097" cy="11422690"/>
            </a:xfrm>
            <a:custGeom>
              <a:avLst/>
              <a:gdLst/>
              <a:ahLst/>
              <a:cxnLst/>
              <a:rect r="r" b="b" t="t" l="l"/>
              <a:pathLst>
                <a:path h="11422690" w="10765097">
                  <a:moveTo>
                    <a:pt x="0" y="11422690"/>
                  </a:moveTo>
                  <a:lnTo>
                    <a:pt x="10765097" y="11422690"/>
                  </a:lnTo>
                  <a:lnTo>
                    <a:pt x="10765097" y="0"/>
                  </a:lnTo>
                  <a:lnTo>
                    <a:pt x="0" y="0"/>
                  </a:lnTo>
                  <a:lnTo>
                    <a:pt x="0" y="1142269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473311" y="0"/>
              <a:ext cx="13910689" cy="11422690"/>
            </a:xfrm>
            <a:custGeom>
              <a:avLst/>
              <a:gdLst/>
              <a:ahLst/>
              <a:cxnLst/>
              <a:rect r="r" b="b" t="t" l="l"/>
              <a:pathLst>
                <a:path h="11422690" w="13910689">
                  <a:moveTo>
                    <a:pt x="0" y="0"/>
                  </a:moveTo>
                  <a:lnTo>
                    <a:pt x="13910689" y="0"/>
                  </a:lnTo>
                  <a:lnTo>
                    <a:pt x="13910689" y="11422690"/>
                  </a:lnTo>
                  <a:lnTo>
                    <a:pt x="0" y="1142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757235" y="4519496"/>
            <a:ext cx="1077353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นายศุภณัฐ เชื้อดี 6730251514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87717" y="3335121"/>
            <a:ext cx="1271256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นายฐาปนพงค์ วงษ์ไกรสร 6730251093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855167" y="2186406"/>
            <a:ext cx="857766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นายรัชตะ เอี่ยมสอาด 6730251336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2640" y="6893126"/>
            <a:ext cx="638272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นายวรัท นิคมคาย 6730251204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489253" y="5706311"/>
            <a:ext cx="7309493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นายอัษฎาพร บัวสด 6730251387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866012" y="719093"/>
            <a:ext cx="6382720" cy="75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สมาชิก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79445" y="5772986"/>
            <a:ext cx="3755834" cy="4432851"/>
          </a:xfrm>
          <a:custGeom>
            <a:avLst/>
            <a:gdLst/>
            <a:ahLst/>
            <a:cxnLst/>
            <a:rect r="r" b="b" t="t" l="l"/>
            <a:pathLst>
              <a:path h="4432851" w="3755834">
                <a:moveTo>
                  <a:pt x="0" y="0"/>
                </a:moveTo>
                <a:lnTo>
                  <a:pt x="3755833" y="0"/>
                </a:lnTo>
                <a:lnTo>
                  <a:pt x="3755833" y="4432851"/>
                </a:lnTo>
                <a:lnTo>
                  <a:pt x="0" y="4432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1728" y="4372148"/>
            <a:ext cx="3611650" cy="4356157"/>
          </a:xfrm>
          <a:custGeom>
            <a:avLst/>
            <a:gdLst/>
            <a:ahLst/>
            <a:cxnLst/>
            <a:rect r="r" b="b" t="t" l="l"/>
            <a:pathLst>
              <a:path h="4356157" w="3611650">
                <a:moveTo>
                  <a:pt x="0" y="0"/>
                </a:moveTo>
                <a:lnTo>
                  <a:pt x="3611650" y="0"/>
                </a:lnTo>
                <a:lnTo>
                  <a:pt x="3611650" y="4356157"/>
                </a:lnTo>
                <a:lnTo>
                  <a:pt x="0" y="43561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683" y="-1225763"/>
            <a:ext cx="18953366" cy="12738527"/>
            <a:chOff x="0" y="0"/>
            <a:chExt cx="25271155" cy="16984703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16625803" y="13855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5400000">
              <a:off x="16625803" y="8339351"/>
              <a:ext cx="8659206" cy="8631497"/>
            </a:xfrm>
            <a:custGeom>
              <a:avLst/>
              <a:gdLst/>
              <a:ahLst/>
              <a:cxnLst/>
              <a:rect r="r" b="b" t="t" l="l"/>
              <a:pathLst>
                <a:path h="863149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631497"/>
                  </a:lnTo>
                  <a:lnTo>
                    <a:pt x="0" y="8631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813736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6" y="0"/>
                  </a:lnTo>
                  <a:lnTo>
                    <a:pt x="8659206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5400000">
              <a:off x="-150630" y="8476126"/>
              <a:ext cx="8659206" cy="8357947"/>
            </a:xfrm>
            <a:custGeom>
              <a:avLst/>
              <a:gdLst/>
              <a:ahLst/>
              <a:cxnLst/>
              <a:rect r="r" b="b" t="t" l="l"/>
              <a:pathLst>
                <a:path h="8357947" w="8659206">
                  <a:moveTo>
                    <a:pt x="0" y="0"/>
                  </a:moveTo>
                  <a:lnTo>
                    <a:pt x="8659207" y="0"/>
                  </a:lnTo>
                  <a:lnTo>
                    <a:pt x="8659207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8299018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90" y="0"/>
                  </a:lnTo>
                  <a:lnTo>
                    <a:pt x="8335890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11029" y="-11029"/>
              <a:ext cx="8335890" cy="8357947"/>
            </a:xfrm>
            <a:custGeom>
              <a:avLst/>
              <a:gdLst/>
              <a:ahLst/>
              <a:cxnLst/>
              <a:rect r="r" b="b" t="t" l="l"/>
              <a:pathLst>
                <a:path h="8357947" w="8335890">
                  <a:moveTo>
                    <a:pt x="0" y="0"/>
                  </a:moveTo>
                  <a:lnTo>
                    <a:pt x="8335889" y="0"/>
                  </a:lnTo>
                  <a:lnTo>
                    <a:pt x="8335889" y="8357947"/>
                  </a:lnTo>
                  <a:lnTo>
                    <a:pt x="0" y="8357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3272" r="-387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6473" y="1360359"/>
            <a:ext cx="16859722" cy="7897941"/>
            <a:chOff x="0" y="0"/>
            <a:chExt cx="22479630" cy="10530587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9924352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9924352">
                  <a:moveTo>
                    <a:pt x="0" y="10530587"/>
                  </a:moveTo>
                  <a:lnTo>
                    <a:pt x="9924352" y="10530587"/>
                  </a:lnTo>
                  <a:lnTo>
                    <a:pt x="9924352" y="0"/>
                  </a:lnTo>
                  <a:lnTo>
                    <a:pt x="0" y="0"/>
                  </a:lnTo>
                  <a:lnTo>
                    <a:pt x="0" y="10530587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15373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55354" y="0"/>
              <a:ext cx="12824276" cy="10530587"/>
            </a:xfrm>
            <a:custGeom>
              <a:avLst/>
              <a:gdLst/>
              <a:ahLst/>
              <a:cxnLst/>
              <a:rect r="r" b="b" t="t" l="l"/>
              <a:pathLst>
                <a:path h="10530587" w="12824276">
                  <a:moveTo>
                    <a:pt x="0" y="0"/>
                  </a:moveTo>
                  <a:lnTo>
                    <a:pt x="12824276" y="0"/>
                  </a:lnTo>
                  <a:lnTo>
                    <a:pt x="12824276" y="10530587"/>
                  </a:lnTo>
                  <a:lnTo>
                    <a:pt x="0" y="1053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9636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400821" y="6182557"/>
            <a:ext cx="3755834" cy="4432851"/>
          </a:xfrm>
          <a:custGeom>
            <a:avLst/>
            <a:gdLst/>
            <a:ahLst/>
            <a:cxnLst/>
            <a:rect r="r" b="b" t="t" l="l"/>
            <a:pathLst>
              <a:path h="4432851" w="3755834">
                <a:moveTo>
                  <a:pt x="0" y="0"/>
                </a:moveTo>
                <a:lnTo>
                  <a:pt x="3755834" y="0"/>
                </a:lnTo>
                <a:lnTo>
                  <a:pt x="3755834" y="4432851"/>
                </a:lnTo>
                <a:lnTo>
                  <a:pt x="0" y="44328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782139">
            <a:off x="1414482" y="2330007"/>
            <a:ext cx="1160507" cy="1523166"/>
          </a:xfrm>
          <a:custGeom>
            <a:avLst/>
            <a:gdLst/>
            <a:ahLst/>
            <a:cxnLst/>
            <a:rect r="r" b="b" t="t" l="l"/>
            <a:pathLst>
              <a:path h="1523166" w="1160507">
                <a:moveTo>
                  <a:pt x="0" y="0"/>
                </a:moveTo>
                <a:lnTo>
                  <a:pt x="1160507" y="0"/>
                </a:lnTo>
                <a:lnTo>
                  <a:pt x="1160507" y="1523166"/>
                </a:lnTo>
                <a:lnTo>
                  <a:pt x="0" y="1523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41591" t="-32236" r="-385" b="-26520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392055">
            <a:off x="519206" y="1586671"/>
            <a:ext cx="1018989" cy="1111775"/>
          </a:xfrm>
          <a:custGeom>
            <a:avLst/>
            <a:gdLst/>
            <a:ahLst/>
            <a:cxnLst/>
            <a:rect r="r" b="b" t="t" l="l"/>
            <a:pathLst>
              <a:path h="1111775" w="1018989">
                <a:moveTo>
                  <a:pt x="0" y="0"/>
                </a:moveTo>
                <a:lnTo>
                  <a:pt x="1018988" y="0"/>
                </a:lnTo>
                <a:lnTo>
                  <a:pt x="1018988" y="1111775"/>
                </a:lnTo>
                <a:lnTo>
                  <a:pt x="0" y="1111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1300" t="0" r="-132058" b="-44451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952640" y="2977290"/>
            <a:ext cx="6382720" cy="7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5"/>
              </a:lnSpc>
              <a:spcBef>
                <a:spcPct val="0"/>
              </a:spcBef>
            </a:pPr>
            <a:r>
              <a:rPr lang="en-US" sz="4196">
                <a:solidFill>
                  <a:srgbClr val="FFFFFF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 จบการนำเสนอ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4989" y="4091677"/>
            <a:ext cx="13138022" cy="177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9"/>
              </a:lnSpc>
            </a:pPr>
            <a:r>
              <a:rPr lang="en-US" sz="12474">
                <a:solidFill>
                  <a:srgbClr val="0B0708"/>
                </a:solidFill>
                <a:latin typeface="HappyThursday TH"/>
                <a:ea typeface="HappyThursday TH"/>
                <a:cs typeface="HappyThursday TH"/>
                <a:sym typeface="HappyThursday TH"/>
              </a:rPr>
              <a:t>ขอบคุณครับ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2024509">
            <a:off x="8795033" y="6569836"/>
            <a:ext cx="431218" cy="495572"/>
          </a:xfrm>
          <a:custGeom>
            <a:avLst/>
            <a:gdLst/>
            <a:ahLst/>
            <a:cxnLst/>
            <a:rect r="r" b="b" t="t" l="l"/>
            <a:pathLst>
              <a:path h="495572" w="431218">
                <a:moveTo>
                  <a:pt x="0" y="0"/>
                </a:moveTo>
                <a:lnTo>
                  <a:pt x="431218" y="0"/>
                </a:lnTo>
                <a:lnTo>
                  <a:pt x="431218" y="495572"/>
                </a:lnTo>
                <a:lnTo>
                  <a:pt x="0" y="4955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97584" r="-439051" b="-40658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913028">
            <a:off x="16140526" y="1207693"/>
            <a:ext cx="1533159" cy="1267282"/>
          </a:xfrm>
          <a:custGeom>
            <a:avLst/>
            <a:gdLst/>
            <a:ahLst/>
            <a:cxnLst/>
            <a:rect r="r" b="b" t="t" l="l"/>
            <a:pathLst>
              <a:path h="1267282" w="1533159">
                <a:moveTo>
                  <a:pt x="0" y="0"/>
                </a:moveTo>
                <a:lnTo>
                  <a:pt x="1533159" y="0"/>
                </a:lnTo>
                <a:lnTo>
                  <a:pt x="1533159" y="1267282"/>
                </a:lnTo>
                <a:lnTo>
                  <a:pt x="0" y="12672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4474" t="0" r="-251400" b="-50130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DAHV0JqiJDY</dc:identifier>
  <dcterms:modified xsi:type="dcterms:W3CDTF">2011-08-01T06:04:30Z</dcterms:modified>
  <cp:revision>1</cp:revision>
  <dc:title>สีขาว และ สีดำ  น่ารัก ลายเส้น งานนำเสนอ โครงงาน พรีเซนเทชั่น</dc:title>
</cp:coreProperties>
</file>